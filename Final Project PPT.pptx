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4630400" cy="8229600"/>
  <p:notesSz cx="8229600" cy="14630400"/>
  <p:embeddedFontLst>
    <p:embeddedFont>
      <p:font typeface="Source Sans 3" panose="020B0604020202020204" charset="0"/>
      <p:regular r:id="rId13"/>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11121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80" d="100"/>
          <a:sy n="80" d="100"/>
        </p:scale>
        <p:origin x="69" y="507"/>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font" Target="fonts/font1.fntdata"/><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notesMaster" Target="notesMasters/notesMaster1.xml"/><Relationship Id="rId17"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theme" Target="theme/theme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viewProps" Target="viewProps.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presProps" Target="pres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86959428"/>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hyperlink" Target="https://gamma.app/?utm_source=made-with-gamma" TargetMode="Externa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Slide 1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Slide 2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lide 3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Slide 4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Slide 5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Slide 6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Slide 7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Slide 8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Slide 9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Slide 10 master">
    <p:spTree>
      <p:nvGrpSpPr>
        <p:cNvPr id="1" name=""/>
        <p:cNvGrpSpPr/>
        <p:nvPr/>
      </p:nvGrpSpPr>
      <p:grpSpPr>
        <a:xfrm>
          <a:off x="0" y="0"/>
          <a:ext cx="0" cy="0"/>
          <a:chOff x="0" y="0"/>
          <a:chExt cx="0" cy="0"/>
        </a:xfrm>
      </p:grpSpPr>
      <p:sp>
        <p:nvSpPr>
          <p:cNvPr id="2" name="Shape 0"/>
          <p:cNvSpPr/>
          <p:nvPr/>
        </p:nvSpPr>
        <p:spPr>
          <a:xfrm>
            <a:off x="0" y="0"/>
            <a:ext cx="14630400" cy="8229600"/>
          </a:xfrm>
          <a:prstGeom prst="rect">
            <a:avLst/>
          </a:prstGeom>
          <a:solidFill>
            <a:srgbClr val="181A1B"/>
          </a:solidFill>
          <a:ln/>
        </p:spPr>
      </p:sp>
      <p:sp>
        <p:nvSpPr>
          <p:cNvPr id="3" name="Shape 1"/>
          <p:cNvSpPr/>
          <p:nvPr/>
        </p:nvSpPr>
        <p:spPr>
          <a:xfrm>
            <a:off x="0" y="0"/>
            <a:ext cx="14630400" cy="8229600"/>
          </a:xfrm>
          <a:prstGeom prst="rect">
            <a:avLst/>
          </a:prstGeom>
          <a:solidFill>
            <a:srgbClr val="111213"/>
          </a:solidFill>
          <a:ln/>
        </p:spPr>
      </p:sp>
      <p:pic>
        <p:nvPicPr>
          <p:cNvPr id="4" name="Image 0" descr="preencoded.png">
            <a:hlinkClick r:id="rId2"/>
          </p:cNvPr>
          <p:cNvPicPr>
            <a:picLocks noChangeAspect="1"/>
          </p:cNvPicPr>
          <p:nvPr/>
        </p:nvPicPr>
        <p:blipFill>
          <a:blip r:embed="rId3"/>
          <a:stretch>
            <a:fillRect/>
          </a:stretch>
        </p:blipFill>
        <p:spPr>
          <a:xfrm>
            <a:off x="12839215" y="7749540"/>
            <a:ext cx="1722605" cy="41148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3.xml.rels><?xml version="1.0" encoding="UTF-8" standalone="yes"?>
<Relationships xmlns="http://schemas.openxmlformats.org/package/2006/relationships"><Relationship Id="rId8" Type="http://schemas.openxmlformats.org/officeDocument/2006/relationships/image" Target="../media/image9.png"/><Relationship Id="rId3" Type="http://schemas.openxmlformats.org/officeDocument/2006/relationships/image" Target="../media/image4.png"/><Relationship Id="rId7" Type="http://schemas.openxmlformats.org/officeDocument/2006/relationships/image" Target="../media/image8.svg"/><Relationship Id="rId2" Type="http://schemas.openxmlformats.org/officeDocument/2006/relationships/notesSlide" Target="../notesSlides/notesSlide3.xml"/><Relationship Id="rId1" Type="http://schemas.openxmlformats.org/officeDocument/2006/relationships/slideLayout" Target="../slideLayouts/slideLayout4.xml"/><Relationship Id="rId6" Type="http://schemas.openxmlformats.org/officeDocument/2006/relationships/image" Target="../media/image7.png"/><Relationship Id="rId11" Type="http://schemas.openxmlformats.org/officeDocument/2006/relationships/image" Target="../media/image12.svg"/><Relationship Id="rId5" Type="http://schemas.openxmlformats.org/officeDocument/2006/relationships/image" Target="../media/image6.svg"/><Relationship Id="rId10" Type="http://schemas.openxmlformats.org/officeDocument/2006/relationships/image" Target="../media/image11.png"/><Relationship Id="rId4" Type="http://schemas.openxmlformats.org/officeDocument/2006/relationships/image" Target="../media/image5.png"/><Relationship Id="rId9" Type="http://schemas.openxmlformats.org/officeDocument/2006/relationships/image" Target="../media/image10.svg"/></Relationships>
</file>

<file path=ppt/slides/_rels/slide4.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5.xml.rels><?xml version="1.0" encoding="UTF-8" standalone="yes"?>
<Relationships xmlns="http://schemas.openxmlformats.org/package/2006/relationships"><Relationship Id="rId8" Type="http://schemas.openxmlformats.org/officeDocument/2006/relationships/image" Target="../media/image20.svg"/><Relationship Id="rId3" Type="http://schemas.openxmlformats.org/officeDocument/2006/relationships/image" Target="../media/image15.png"/><Relationship Id="rId7" Type="http://schemas.openxmlformats.org/officeDocument/2006/relationships/image" Target="../media/image19.png"/><Relationship Id="rId12" Type="http://schemas.openxmlformats.org/officeDocument/2006/relationships/image" Target="../media/image24.svg"/><Relationship Id="rId2" Type="http://schemas.openxmlformats.org/officeDocument/2006/relationships/notesSlide" Target="../notesSlides/notesSlide5.xml"/><Relationship Id="rId1" Type="http://schemas.openxmlformats.org/officeDocument/2006/relationships/slideLayout" Target="../slideLayouts/slideLayout6.xml"/><Relationship Id="rId6" Type="http://schemas.openxmlformats.org/officeDocument/2006/relationships/image" Target="../media/image18.svg"/><Relationship Id="rId11" Type="http://schemas.openxmlformats.org/officeDocument/2006/relationships/image" Target="../media/image23.png"/><Relationship Id="rId5" Type="http://schemas.openxmlformats.org/officeDocument/2006/relationships/image" Target="../media/image17.png"/><Relationship Id="rId10" Type="http://schemas.openxmlformats.org/officeDocument/2006/relationships/image" Target="../media/image22.svg"/><Relationship Id="rId4" Type="http://schemas.openxmlformats.org/officeDocument/2006/relationships/image" Target="../media/image16.svg"/><Relationship Id="rId9" Type="http://schemas.openxmlformats.org/officeDocument/2006/relationships/image" Target="../media/image21.png"/></Relationships>
</file>

<file path=ppt/slides/_rels/slide6.xml.rels><?xml version="1.0" encoding="UTF-8" standalone="yes"?>
<Relationships xmlns="http://schemas.openxmlformats.org/package/2006/relationships"><Relationship Id="rId3" Type="http://schemas.openxmlformats.org/officeDocument/2006/relationships/image" Target="../media/image25.png"/><Relationship Id="rId2" Type="http://schemas.openxmlformats.org/officeDocument/2006/relationships/notesSlide" Target="../notesSlides/notesSlide6.xml"/><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8.xml"/></Relationships>
</file>

<file path=ppt/slides/_rels/slide8.xml.rels><?xml version="1.0" encoding="UTF-8" standalone="yes"?>
<Relationships xmlns="http://schemas.openxmlformats.org/package/2006/relationships"><Relationship Id="rId8" Type="http://schemas.openxmlformats.org/officeDocument/2006/relationships/image" Target="../media/image31.png"/><Relationship Id="rId3" Type="http://schemas.openxmlformats.org/officeDocument/2006/relationships/image" Target="../media/image26.png"/><Relationship Id="rId7" Type="http://schemas.openxmlformats.org/officeDocument/2006/relationships/image" Target="../media/image30.png"/><Relationship Id="rId2" Type="http://schemas.openxmlformats.org/officeDocument/2006/relationships/notesSlide" Target="../notesSlides/notesSlide8.xml"/><Relationship Id="rId1" Type="http://schemas.openxmlformats.org/officeDocument/2006/relationships/slideLayout" Target="../slideLayouts/slideLayout9.xml"/><Relationship Id="rId6" Type="http://schemas.openxmlformats.org/officeDocument/2006/relationships/image" Target="../media/image29.png"/><Relationship Id="rId5" Type="http://schemas.openxmlformats.org/officeDocument/2006/relationships/image" Target="../media/image28.png"/><Relationship Id="rId4" Type="http://schemas.openxmlformats.org/officeDocument/2006/relationships/image" Target="../media/image27.png"/></Relationships>
</file>

<file path=ppt/slides/_rels/slide9.xml.rels><?xml version="1.0" encoding="UTF-8" standalone="yes"?>
<Relationships xmlns="http://schemas.openxmlformats.org/package/2006/relationships"><Relationship Id="rId3" Type="http://schemas.openxmlformats.org/officeDocument/2006/relationships/image" Target="../media/image32.png"/><Relationship Id="rId2" Type="http://schemas.openxmlformats.org/officeDocument/2006/relationships/notesSlide" Target="../notesSlides/notesSlide9.xml"/><Relationship Id="rId1" Type="http://schemas.openxmlformats.org/officeDocument/2006/relationships/slideLayout" Target="../slideLayouts/slideLayout10.xml"/></Relationships>
</file>

<file path=ppt/slides/_rels/slide10.xml.rels><?xml version="1.0" encoding="UTF-8" standalone="yes"?>
<Relationships xmlns="http://schemas.openxmlformats.org/package/2006/relationships"><Relationship Id="rId3" Type="http://schemas.openxmlformats.org/officeDocument/2006/relationships/image" Target="../media/image33.png"/><Relationship Id="rId2" Type="http://schemas.openxmlformats.org/officeDocument/2006/relationships/notesSlide" Target="../notesSlides/notesSlide10.xml"/><Relationship Id="rId1" Type="http://schemas.openxmlformats.org/officeDocument/2006/relationships/slideLayout" Target="../slideLayouts/slideLayout11.xml"/><Relationship Id="rId5" Type="http://schemas.openxmlformats.org/officeDocument/2006/relationships/image" Target="../media/image35.svg"/><Relationship Id="rId4" Type="http://schemas.openxmlformats.org/officeDocument/2006/relationships/image" Target="../media/image34.png"/></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Text 0"/>
          <p:cNvSpPr/>
          <p:nvPr/>
        </p:nvSpPr>
        <p:spPr>
          <a:xfrm>
            <a:off x="6350198" y="2858214"/>
            <a:ext cx="7416403" cy="1402556"/>
          </a:xfrm>
          <a:prstGeom prst="rect">
            <a:avLst/>
          </a:prstGeom>
          <a:noFill/>
          <a:ln/>
        </p:spPr>
        <p:txBody>
          <a:bodyPr wrap="square" lIns="0" tIns="0" rIns="0" bIns="0" rtlCol="0" anchor="t"/>
          <a:lstStyle/>
          <a:p>
            <a:pPr marL="0" indent="0" algn="l">
              <a:lnSpc>
                <a:spcPts val="5500"/>
              </a:lnSpc>
              <a:buNone/>
            </a:pPr>
            <a:r>
              <a:rPr lang="en-US" sz="4400" b="1" dirty="0">
                <a:solidFill>
                  <a:srgbClr val="FFFFFF"/>
                </a:solidFill>
                <a:latin typeface="Montserrat Bold" pitchFamily="34" charset="0"/>
                <a:ea typeface="Montserrat Bold" pitchFamily="34" charset="-122"/>
                <a:cs typeface="Montserrat Bold" pitchFamily="34" charset="-120"/>
              </a:rPr>
              <a:t>VISUALSENSE: Gesture-Controlled Console</a:t>
            </a:r>
            <a:endParaRPr lang="en-US" sz="4400" dirty="0"/>
          </a:p>
        </p:txBody>
      </p:sp>
      <p:sp>
        <p:nvSpPr>
          <p:cNvPr id="4" name="Text 1"/>
          <p:cNvSpPr/>
          <p:nvPr/>
        </p:nvSpPr>
        <p:spPr>
          <a:xfrm>
            <a:off x="6350198" y="4630936"/>
            <a:ext cx="7416403" cy="740331"/>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Unlocking intuitive interaction with embedded IoT systems through innovative gesture control.</a:t>
            </a:r>
            <a:endParaRPr lang="en-US" sz="1900" dirty="0"/>
          </a:p>
        </p:txBody>
      </p:sp>
      <p:sp>
        <p:nvSpPr>
          <p:cNvPr id="5" name="Rectangle 4">
            <a:extLst>
              <a:ext uri="{FF2B5EF4-FFF2-40B4-BE49-F238E27FC236}">
                <a16:creationId xmlns:a16="http://schemas.microsoft.com/office/drawing/2014/main" id="{9BB28879-4164-F398-E11A-F8C8A719B076}"/>
              </a:ext>
            </a:extLst>
          </p:cNvPr>
          <p:cNvSpPr/>
          <p:nvPr/>
        </p:nvSpPr>
        <p:spPr>
          <a:xfrm>
            <a:off x="12861364" y="7739529"/>
            <a:ext cx="1637553" cy="406400"/>
          </a:xfrm>
          <a:prstGeom prst="rect">
            <a:avLst/>
          </a:prstGeom>
          <a:solidFill>
            <a:srgbClr val="1112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816662"/>
          </a:xfrm>
          <a:prstGeom prst="rect">
            <a:avLst/>
          </a:prstGeom>
        </p:spPr>
      </p:pic>
      <p:sp>
        <p:nvSpPr>
          <p:cNvPr id="3" name="Shape 0"/>
          <p:cNvSpPr/>
          <p:nvPr/>
        </p:nvSpPr>
        <p:spPr>
          <a:xfrm>
            <a:off x="788670" y="3690938"/>
            <a:ext cx="1105614" cy="405408"/>
          </a:xfrm>
          <a:prstGeom prst="roundRect">
            <a:avLst>
              <a:gd name="adj" fmla="val 6670"/>
            </a:avLst>
          </a:prstGeom>
          <a:solidFill>
            <a:srgbClr val="262626"/>
          </a:solidFill>
          <a:ln/>
        </p:spPr>
      </p:sp>
      <p:sp>
        <p:nvSpPr>
          <p:cNvPr id="4" name="Text 1"/>
          <p:cNvSpPr/>
          <p:nvPr/>
        </p:nvSpPr>
        <p:spPr>
          <a:xfrm>
            <a:off x="923806" y="3758446"/>
            <a:ext cx="835343" cy="270391"/>
          </a:xfrm>
          <a:prstGeom prst="rect">
            <a:avLst/>
          </a:prstGeom>
          <a:noFill/>
          <a:ln/>
        </p:spPr>
        <p:txBody>
          <a:bodyPr wrap="none" lIns="0" tIns="0" rIns="0" bIns="0" rtlCol="0" anchor="t"/>
          <a:lstStyle/>
          <a:p>
            <a:pPr marL="0" indent="0" algn="l">
              <a:lnSpc>
                <a:spcPts val="2100"/>
              </a:lnSpc>
              <a:buNone/>
            </a:pPr>
            <a:r>
              <a:rPr lang="en-US" sz="1400" dirty="0">
                <a:solidFill>
                  <a:srgbClr val="E2E6E9"/>
                </a:solidFill>
                <a:latin typeface="Source Sans 3" pitchFamily="34" charset="0"/>
                <a:ea typeface="Source Sans 3" pitchFamily="34" charset="-122"/>
                <a:cs typeface="Source Sans 3" pitchFamily="34" charset="-120"/>
              </a:rPr>
              <a:t>CHAPTER 1</a:t>
            </a:r>
            <a:endParaRPr lang="en-US" sz="1400" dirty="0"/>
          </a:p>
        </p:txBody>
      </p:sp>
      <p:sp>
        <p:nvSpPr>
          <p:cNvPr id="5" name="Text 2"/>
          <p:cNvSpPr/>
          <p:nvPr/>
        </p:nvSpPr>
        <p:spPr>
          <a:xfrm>
            <a:off x="788670" y="4186476"/>
            <a:ext cx="11869936" cy="512088"/>
          </a:xfrm>
          <a:prstGeom prst="rect">
            <a:avLst/>
          </a:prstGeom>
          <a:noFill/>
          <a:ln/>
        </p:spPr>
        <p:txBody>
          <a:bodyPr wrap="none" lIns="0" tIns="0" rIns="0" bIns="0" rtlCol="0" anchor="t"/>
          <a:lstStyle/>
          <a:p>
            <a:pPr marL="0" indent="0" algn="l">
              <a:lnSpc>
                <a:spcPts val="4000"/>
              </a:lnSpc>
              <a:buNone/>
            </a:pPr>
            <a:r>
              <a:rPr lang="en-US" sz="3200" b="1" dirty="0">
                <a:solidFill>
                  <a:srgbClr val="FFFFFF"/>
                </a:solidFill>
                <a:latin typeface="Montserrat Bold" pitchFamily="34" charset="0"/>
                <a:ea typeface="Montserrat Bold" pitchFamily="34" charset="-122"/>
                <a:cs typeface="Montserrat Bold" pitchFamily="34" charset="-120"/>
              </a:rPr>
              <a:t>The Challenge: Bridging the Physical and Digital Divide</a:t>
            </a:r>
            <a:endParaRPr lang="en-US" sz="3200" dirty="0"/>
          </a:p>
        </p:txBody>
      </p:sp>
      <p:sp>
        <p:nvSpPr>
          <p:cNvPr id="6" name="Shape 3"/>
          <p:cNvSpPr/>
          <p:nvPr/>
        </p:nvSpPr>
        <p:spPr>
          <a:xfrm>
            <a:off x="788670" y="5036463"/>
            <a:ext cx="6413897" cy="2318742"/>
          </a:xfrm>
          <a:prstGeom prst="roundRect">
            <a:avLst>
              <a:gd name="adj" fmla="val 6310"/>
            </a:avLst>
          </a:prstGeom>
          <a:solidFill>
            <a:srgbClr val="111213"/>
          </a:solidFill>
          <a:ln w="30480">
            <a:solidFill>
              <a:srgbClr val="494A4B"/>
            </a:solidFill>
            <a:prstDash val="solid"/>
          </a:ln>
        </p:spPr>
      </p:sp>
      <p:sp>
        <p:nvSpPr>
          <p:cNvPr id="7" name="Shape 4"/>
          <p:cNvSpPr/>
          <p:nvPr/>
        </p:nvSpPr>
        <p:spPr>
          <a:xfrm>
            <a:off x="758190" y="5036463"/>
            <a:ext cx="121920" cy="2318742"/>
          </a:xfrm>
          <a:prstGeom prst="roundRect">
            <a:avLst>
              <a:gd name="adj" fmla="val 27724"/>
            </a:avLst>
          </a:prstGeom>
          <a:solidFill>
            <a:srgbClr val="FFFFFF"/>
          </a:solidFill>
          <a:ln/>
        </p:spPr>
      </p:sp>
      <p:sp>
        <p:nvSpPr>
          <p:cNvPr id="8" name="Text 5"/>
          <p:cNvSpPr/>
          <p:nvPr/>
        </p:nvSpPr>
        <p:spPr>
          <a:xfrm>
            <a:off x="1135856" y="5292209"/>
            <a:ext cx="4156234" cy="320040"/>
          </a:xfrm>
          <a:prstGeom prst="rect">
            <a:avLst/>
          </a:prstGeom>
          <a:noFill/>
          <a:ln/>
        </p:spPr>
        <p:txBody>
          <a:bodyPr wrap="none" lIns="0" tIns="0" rIns="0" bIns="0" rtlCol="0" anchor="t"/>
          <a:lstStyle/>
          <a:p>
            <a:pPr marL="0" indent="0" algn="l">
              <a:lnSpc>
                <a:spcPts val="2500"/>
              </a:lnSpc>
              <a:buNone/>
            </a:pPr>
            <a:r>
              <a:rPr lang="en-US" sz="2000" b="1" dirty="0">
                <a:solidFill>
                  <a:srgbClr val="E2E6E9"/>
                </a:solidFill>
                <a:latin typeface="Montserrat Bold" pitchFamily="34" charset="0"/>
                <a:ea typeface="Montserrat Bold" pitchFamily="34" charset="-122"/>
                <a:cs typeface="Montserrat Bold" pitchFamily="34" charset="-120"/>
              </a:rPr>
              <a:t>Limitations of Traditional Input</a:t>
            </a:r>
            <a:endParaRPr lang="en-US" sz="2000" dirty="0"/>
          </a:p>
        </p:txBody>
      </p:sp>
      <p:sp>
        <p:nvSpPr>
          <p:cNvPr id="9" name="Text 6"/>
          <p:cNvSpPr/>
          <p:nvPr/>
        </p:nvSpPr>
        <p:spPr>
          <a:xfrm>
            <a:off x="1135856" y="5747385"/>
            <a:ext cx="5810964" cy="1014055"/>
          </a:xfrm>
          <a:prstGeom prst="rect">
            <a:avLst/>
          </a:prstGeom>
          <a:noFill/>
          <a:ln/>
        </p:spPr>
        <p:txBody>
          <a:bodyPr wrap="square" lIns="0" tIns="0" rIns="0" bIns="0" rtlCol="0" anchor="t"/>
          <a:lstStyle/>
          <a:p>
            <a:pPr marL="0" indent="0" algn="l">
              <a:lnSpc>
                <a:spcPts val="2650"/>
              </a:lnSpc>
              <a:buNone/>
            </a:pPr>
            <a:r>
              <a:rPr lang="en-US" sz="1750" dirty="0">
                <a:solidFill>
                  <a:srgbClr val="E2E6E9"/>
                </a:solidFill>
                <a:latin typeface="Source Sans 3" pitchFamily="34" charset="0"/>
                <a:ea typeface="Source Sans 3" pitchFamily="34" charset="-122"/>
                <a:cs typeface="Source Sans 3" pitchFamily="34" charset="-120"/>
              </a:rPr>
              <a:t>Keyboards, mice, and touchscreens require physical contact, limiting their use in many IoT scenarios. This creates a barrier for seamless, touchless interaction.</a:t>
            </a:r>
            <a:endParaRPr lang="en-US" sz="1750" dirty="0"/>
          </a:p>
        </p:txBody>
      </p:sp>
      <p:sp>
        <p:nvSpPr>
          <p:cNvPr id="10" name="Shape 7"/>
          <p:cNvSpPr/>
          <p:nvPr/>
        </p:nvSpPr>
        <p:spPr>
          <a:xfrm>
            <a:off x="7427833" y="5036463"/>
            <a:ext cx="6413897" cy="2318742"/>
          </a:xfrm>
          <a:prstGeom prst="roundRect">
            <a:avLst>
              <a:gd name="adj" fmla="val 6310"/>
            </a:avLst>
          </a:prstGeom>
          <a:solidFill>
            <a:srgbClr val="111213"/>
          </a:solidFill>
          <a:ln w="30480">
            <a:solidFill>
              <a:srgbClr val="494A4B"/>
            </a:solidFill>
            <a:prstDash val="solid"/>
          </a:ln>
        </p:spPr>
      </p:sp>
      <p:sp>
        <p:nvSpPr>
          <p:cNvPr id="11" name="Shape 8"/>
          <p:cNvSpPr/>
          <p:nvPr/>
        </p:nvSpPr>
        <p:spPr>
          <a:xfrm>
            <a:off x="7397353" y="5036463"/>
            <a:ext cx="121920" cy="2318742"/>
          </a:xfrm>
          <a:prstGeom prst="roundRect">
            <a:avLst>
              <a:gd name="adj" fmla="val 27724"/>
            </a:avLst>
          </a:prstGeom>
          <a:solidFill>
            <a:srgbClr val="FFFFFF"/>
          </a:solidFill>
          <a:ln/>
        </p:spPr>
      </p:sp>
      <p:sp>
        <p:nvSpPr>
          <p:cNvPr id="12" name="Text 9"/>
          <p:cNvSpPr/>
          <p:nvPr/>
        </p:nvSpPr>
        <p:spPr>
          <a:xfrm>
            <a:off x="7775019" y="5292209"/>
            <a:ext cx="3766066" cy="320040"/>
          </a:xfrm>
          <a:prstGeom prst="rect">
            <a:avLst/>
          </a:prstGeom>
          <a:noFill/>
          <a:ln/>
        </p:spPr>
        <p:txBody>
          <a:bodyPr wrap="none" lIns="0" tIns="0" rIns="0" bIns="0" rtlCol="0" anchor="t"/>
          <a:lstStyle/>
          <a:p>
            <a:pPr marL="0" indent="0" algn="l">
              <a:lnSpc>
                <a:spcPts val="2500"/>
              </a:lnSpc>
              <a:buNone/>
            </a:pPr>
            <a:r>
              <a:rPr lang="en-US" sz="2000" b="1" dirty="0">
                <a:solidFill>
                  <a:srgbClr val="E2E6E9"/>
                </a:solidFill>
                <a:latin typeface="Montserrat Bold" pitchFamily="34" charset="0"/>
                <a:ea typeface="Montserrat Bold" pitchFamily="34" charset="-122"/>
                <a:cs typeface="Montserrat Bold" pitchFamily="34" charset="-120"/>
              </a:rPr>
              <a:t>Need for Intuitive Interfaces</a:t>
            </a:r>
            <a:endParaRPr lang="en-US" sz="2000" dirty="0"/>
          </a:p>
        </p:txBody>
      </p:sp>
      <p:sp>
        <p:nvSpPr>
          <p:cNvPr id="13" name="Text 10"/>
          <p:cNvSpPr/>
          <p:nvPr/>
        </p:nvSpPr>
        <p:spPr>
          <a:xfrm>
            <a:off x="7775019" y="5747385"/>
            <a:ext cx="5810964" cy="1352074"/>
          </a:xfrm>
          <a:prstGeom prst="rect">
            <a:avLst/>
          </a:prstGeom>
          <a:noFill/>
          <a:ln/>
        </p:spPr>
        <p:txBody>
          <a:bodyPr wrap="square" lIns="0" tIns="0" rIns="0" bIns="0" rtlCol="0" anchor="t"/>
          <a:lstStyle/>
          <a:p>
            <a:pPr marL="0" indent="0" algn="l">
              <a:lnSpc>
                <a:spcPts val="2650"/>
              </a:lnSpc>
              <a:buNone/>
            </a:pPr>
            <a:r>
              <a:rPr lang="en-US" sz="1750" dirty="0">
                <a:solidFill>
                  <a:srgbClr val="E2E6E9"/>
                </a:solidFill>
                <a:latin typeface="Source Sans 3" pitchFamily="34" charset="0"/>
                <a:ea typeface="Source Sans 3" pitchFamily="34" charset="-122"/>
                <a:cs typeface="Source Sans 3" pitchFamily="34" charset="-120"/>
              </a:rPr>
              <a:t>There's a growing demand for touchless, intuitive interfaces that enhance user experience, especially in aesthetically pleasing or futuristic settings, without relying on expensive dedicated sensors.</a:t>
            </a:r>
            <a:endParaRPr lang="en-US" sz="1750" dirty="0"/>
          </a:p>
        </p:txBody>
      </p:sp>
      <p:sp>
        <p:nvSpPr>
          <p:cNvPr id="14" name="Rectangle 13">
            <a:extLst>
              <a:ext uri="{FF2B5EF4-FFF2-40B4-BE49-F238E27FC236}">
                <a16:creationId xmlns:a16="http://schemas.microsoft.com/office/drawing/2014/main" id="{9AB017C5-A4E6-4DD5-7FE1-BCFD20BACE64}"/>
              </a:ext>
            </a:extLst>
          </p:cNvPr>
          <p:cNvSpPr/>
          <p:nvPr/>
        </p:nvSpPr>
        <p:spPr>
          <a:xfrm>
            <a:off x="12861364" y="7739529"/>
            <a:ext cx="1637553" cy="406400"/>
          </a:xfrm>
          <a:prstGeom prst="rect">
            <a:avLst/>
          </a:prstGeom>
          <a:solidFill>
            <a:srgbClr val="1112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14630400" cy="2272903"/>
          </a:xfrm>
          <a:prstGeom prst="rect">
            <a:avLst/>
          </a:prstGeom>
        </p:spPr>
      </p:pic>
      <p:sp>
        <p:nvSpPr>
          <p:cNvPr id="3" name="Shape 0"/>
          <p:cNvSpPr/>
          <p:nvPr/>
        </p:nvSpPr>
        <p:spPr>
          <a:xfrm>
            <a:off x="636389" y="2772847"/>
            <a:ext cx="892254" cy="327303"/>
          </a:xfrm>
          <a:prstGeom prst="roundRect">
            <a:avLst>
              <a:gd name="adj" fmla="val 6667"/>
            </a:avLst>
          </a:prstGeom>
          <a:solidFill>
            <a:srgbClr val="262626"/>
          </a:solidFill>
          <a:ln/>
        </p:spPr>
      </p:sp>
      <p:sp>
        <p:nvSpPr>
          <p:cNvPr id="4" name="Text 1"/>
          <p:cNvSpPr/>
          <p:nvPr/>
        </p:nvSpPr>
        <p:spPr>
          <a:xfrm>
            <a:off x="745450" y="2827377"/>
            <a:ext cx="674132" cy="218242"/>
          </a:xfrm>
          <a:prstGeom prst="rect">
            <a:avLst/>
          </a:prstGeom>
          <a:noFill/>
          <a:ln/>
        </p:spPr>
        <p:txBody>
          <a:bodyPr wrap="none" lIns="0" tIns="0" rIns="0" bIns="0" rtlCol="0" anchor="t"/>
          <a:lstStyle/>
          <a:p>
            <a:pPr marL="0" indent="0" algn="l">
              <a:lnSpc>
                <a:spcPts val="1700"/>
              </a:lnSpc>
              <a:buNone/>
            </a:pPr>
            <a:r>
              <a:rPr lang="en-US" sz="1100" dirty="0">
                <a:solidFill>
                  <a:srgbClr val="E2E6E9"/>
                </a:solidFill>
                <a:latin typeface="Source Sans 3" pitchFamily="34" charset="0"/>
                <a:ea typeface="Source Sans 3" pitchFamily="34" charset="-122"/>
                <a:cs typeface="Source Sans 3" pitchFamily="34" charset="-120"/>
              </a:rPr>
              <a:t>CHAPTER 2</a:t>
            </a:r>
            <a:endParaRPr lang="en-US" sz="1100" dirty="0"/>
          </a:p>
        </p:txBody>
      </p:sp>
      <p:sp>
        <p:nvSpPr>
          <p:cNvPr id="5" name="Text 2"/>
          <p:cNvSpPr/>
          <p:nvPr/>
        </p:nvSpPr>
        <p:spPr>
          <a:xfrm>
            <a:off x="636389" y="3172778"/>
            <a:ext cx="9178528" cy="413266"/>
          </a:xfrm>
          <a:prstGeom prst="rect">
            <a:avLst/>
          </a:prstGeom>
          <a:noFill/>
          <a:ln/>
        </p:spPr>
        <p:txBody>
          <a:bodyPr wrap="none" lIns="0" tIns="0" rIns="0" bIns="0" rtlCol="0" anchor="t"/>
          <a:lstStyle/>
          <a:p>
            <a:pPr marL="0" indent="0" algn="l">
              <a:lnSpc>
                <a:spcPts val="3250"/>
              </a:lnSpc>
              <a:buNone/>
            </a:pPr>
            <a:r>
              <a:rPr lang="en-US" sz="2600" b="1" dirty="0">
                <a:solidFill>
                  <a:srgbClr val="FFFFFF"/>
                </a:solidFill>
                <a:latin typeface="Montserrat Bold" pitchFamily="34" charset="0"/>
                <a:ea typeface="Montserrat Bold" pitchFamily="34" charset="-122"/>
                <a:cs typeface="Montserrat Bold" pitchFamily="34" charset="-120"/>
              </a:rPr>
              <a:t>VisualSense Objectives: Building a Futuristic Console</a:t>
            </a:r>
            <a:endParaRPr lang="en-US" sz="2600" dirty="0"/>
          </a:p>
        </p:txBody>
      </p:sp>
      <p:sp>
        <p:nvSpPr>
          <p:cNvPr id="6" name="Shape 3"/>
          <p:cNvSpPr/>
          <p:nvPr/>
        </p:nvSpPr>
        <p:spPr>
          <a:xfrm>
            <a:off x="636389" y="4131350"/>
            <a:ext cx="6587847" cy="1571982"/>
          </a:xfrm>
          <a:prstGeom prst="roundRect">
            <a:avLst>
              <a:gd name="adj" fmla="val 6980"/>
            </a:avLst>
          </a:prstGeom>
          <a:solidFill>
            <a:srgbClr val="111213"/>
          </a:solidFill>
          <a:ln/>
        </p:spPr>
      </p:sp>
      <p:sp>
        <p:nvSpPr>
          <p:cNvPr id="7" name="Shape 4"/>
          <p:cNvSpPr/>
          <p:nvPr/>
        </p:nvSpPr>
        <p:spPr>
          <a:xfrm>
            <a:off x="636389" y="4108490"/>
            <a:ext cx="6587847" cy="91440"/>
          </a:xfrm>
          <a:prstGeom prst="roundRect">
            <a:avLst>
              <a:gd name="adj" fmla="val 29829"/>
            </a:avLst>
          </a:prstGeom>
          <a:solidFill>
            <a:srgbClr val="FFFFFF"/>
          </a:solidFill>
          <a:ln/>
        </p:spPr>
      </p:sp>
      <p:sp>
        <p:nvSpPr>
          <p:cNvPr id="8" name="Shape 5"/>
          <p:cNvSpPr/>
          <p:nvPr/>
        </p:nvSpPr>
        <p:spPr>
          <a:xfrm>
            <a:off x="3657540" y="3858697"/>
            <a:ext cx="545425" cy="545425"/>
          </a:xfrm>
          <a:prstGeom prst="roundRect">
            <a:avLst>
              <a:gd name="adj" fmla="val 167649"/>
            </a:avLst>
          </a:prstGeom>
          <a:solidFill>
            <a:srgbClr val="FFFFFF"/>
          </a:solidFill>
          <a:ln/>
        </p:spPr>
      </p:sp>
      <p:pic>
        <p:nvPicPr>
          <p:cNvPr id="9"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3821132" y="4022288"/>
            <a:ext cx="218123" cy="218123"/>
          </a:xfrm>
          <a:prstGeom prst="rect">
            <a:avLst/>
          </a:prstGeom>
        </p:spPr>
      </p:pic>
      <p:sp>
        <p:nvSpPr>
          <p:cNvPr id="10" name="Text 6"/>
          <p:cNvSpPr/>
          <p:nvPr/>
        </p:nvSpPr>
        <p:spPr>
          <a:xfrm>
            <a:off x="841058" y="4585930"/>
            <a:ext cx="2802255" cy="258366"/>
          </a:xfrm>
          <a:prstGeom prst="rect">
            <a:avLst/>
          </a:prstGeom>
          <a:noFill/>
          <a:ln/>
        </p:spPr>
        <p:txBody>
          <a:bodyPr wrap="none" lIns="0" tIns="0" rIns="0" bIns="0" rtlCol="0" anchor="t"/>
          <a:lstStyle/>
          <a:p>
            <a:pPr marL="0" indent="0" algn="l">
              <a:lnSpc>
                <a:spcPts val="2000"/>
              </a:lnSpc>
              <a:buNone/>
            </a:pPr>
            <a:r>
              <a:rPr lang="en-US" sz="1600" b="1" dirty="0">
                <a:solidFill>
                  <a:srgbClr val="E2E6E9"/>
                </a:solidFill>
                <a:latin typeface="Montserrat Bold" pitchFamily="34" charset="0"/>
                <a:ea typeface="Montserrat Bold" pitchFamily="34" charset="-122"/>
                <a:cs typeface="Montserrat Bold" pitchFamily="34" charset="-120"/>
              </a:rPr>
              <a:t>Wireless Video Streaming</a:t>
            </a:r>
            <a:endParaRPr lang="en-US" sz="1600" dirty="0"/>
          </a:p>
        </p:txBody>
      </p:sp>
      <p:sp>
        <p:nvSpPr>
          <p:cNvPr id="11" name="Text 7"/>
          <p:cNvSpPr/>
          <p:nvPr/>
        </p:nvSpPr>
        <p:spPr>
          <a:xfrm>
            <a:off x="841058" y="4953357"/>
            <a:ext cx="6178510" cy="545306"/>
          </a:xfrm>
          <a:prstGeom prst="rect">
            <a:avLst/>
          </a:prstGeom>
          <a:noFill/>
          <a:ln/>
        </p:spPr>
        <p:txBody>
          <a:bodyPr wrap="square" lIns="0" tIns="0" rIns="0" bIns="0" rtlCol="0" anchor="t"/>
          <a:lstStyle/>
          <a:p>
            <a:pPr marL="0" indent="0" algn="l">
              <a:lnSpc>
                <a:spcPts val="2100"/>
              </a:lnSpc>
              <a:buNone/>
            </a:pPr>
            <a:r>
              <a:rPr lang="en-US" sz="1400" dirty="0">
                <a:solidFill>
                  <a:srgbClr val="E2E6E9"/>
                </a:solidFill>
                <a:latin typeface="Source Sans 3" pitchFamily="34" charset="0"/>
                <a:ea typeface="Source Sans 3" pitchFamily="34" charset="-122"/>
                <a:cs typeface="Source Sans 3" pitchFamily="34" charset="-120"/>
              </a:rPr>
              <a:t>Design a robust wireless video streaming system utilizing the ESP32-CAM module for real-time data capture.</a:t>
            </a:r>
            <a:endParaRPr lang="en-US" sz="1400" dirty="0"/>
          </a:p>
        </p:txBody>
      </p:sp>
      <p:sp>
        <p:nvSpPr>
          <p:cNvPr id="12" name="Shape 8"/>
          <p:cNvSpPr/>
          <p:nvPr/>
        </p:nvSpPr>
        <p:spPr>
          <a:xfrm>
            <a:off x="7406045" y="4131350"/>
            <a:ext cx="6587966" cy="1571982"/>
          </a:xfrm>
          <a:prstGeom prst="roundRect">
            <a:avLst>
              <a:gd name="adj" fmla="val 6980"/>
            </a:avLst>
          </a:prstGeom>
          <a:solidFill>
            <a:srgbClr val="111213"/>
          </a:solidFill>
          <a:ln/>
        </p:spPr>
      </p:sp>
      <p:sp>
        <p:nvSpPr>
          <p:cNvPr id="13" name="Shape 9"/>
          <p:cNvSpPr/>
          <p:nvPr/>
        </p:nvSpPr>
        <p:spPr>
          <a:xfrm>
            <a:off x="7406045" y="4108490"/>
            <a:ext cx="6587966" cy="91440"/>
          </a:xfrm>
          <a:prstGeom prst="roundRect">
            <a:avLst>
              <a:gd name="adj" fmla="val 29829"/>
            </a:avLst>
          </a:prstGeom>
          <a:solidFill>
            <a:srgbClr val="FFFFFF"/>
          </a:solidFill>
          <a:ln/>
        </p:spPr>
      </p:sp>
      <p:sp>
        <p:nvSpPr>
          <p:cNvPr id="14" name="Shape 10"/>
          <p:cNvSpPr/>
          <p:nvPr/>
        </p:nvSpPr>
        <p:spPr>
          <a:xfrm>
            <a:off x="10427315" y="3858697"/>
            <a:ext cx="545425" cy="545425"/>
          </a:xfrm>
          <a:prstGeom prst="roundRect">
            <a:avLst>
              <a:gd name="adj" fmla="val 167649"/>
            </a:avLst>
          </a:prstGeom>
          <a:solidFill>
            <a:srgbClr val="FFFFFF"/>
          </a:solidFill>
          <a:ln/>
        </p:spPr>
      </p:sp>
      <p:pic>
        <p:nvPicPr>
          <p:cNvPr id="15" name="Image 2" descr="preencoded.png"/>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10590907" y="4022288"/>
            <a:ext cx="218123" cy="218123"/>
          </a:xfrm>
          <a:prstGeom prst="rect">
            <a:avLst/>
          </a:prstGeom>
        </p:spPr>
      </p:pic>
      <p:sp>
        <p:nvSpPr>
          <p:cNvPr id="16" name="Text 11"/>
          <p:cNvSpPr/>
          <p:nvPr/>
        </p:nvSpPr>
        <p:spPr>
          <a:xfrm>
            <a:off x="7610713" y="4585930"/>
            <a:ext cx="2920365" cy="258366"/>
          </a:xfrm>
          <a:prstGeom prst="rect">
            <a:avLst/>
          </a:prstGeom>
          <a:noFill/>
          <a:ln/>
        </p:spPr>
        <p:txBody>
          <a:bodyPr wrap="none" lIns="0" tIns="0" rIns="0" bIns="0" rtlCol="0" anchor="t"/>
          <a:lstStyle/>
          <a:p>
            <a:pPr marL="0" indent="0" algn="l">
              <a:lnSpc>
                <a:spcPts val="2000"/>
              </a:lnSpc>
              <a:buNone/>
            </a:pPr>
            <a:r>
              <a:rPr lang="en-US" sz="1600" b="1" dirty="0">
                <a:solidFill>
                  <a:srgbClr val="E2E6E9"/>
                </a:solidFill>
                <a:latin typeface="Montserrat Bold" pitchFamily="34" charset="0"/>
                <a:ea typeface="Montserrat Bold" pitchFamily="34" charset="-122"/>
                <a:cs typeface="Montserrat Bold" pitchFamily="34" charset="-120"/>
              </a:rPr>
              <a:t>Real-time Computer Vision</a:t>
            </a:r>
            <a:endParaRPr lang="en-US" sz="1600" dirty="0"/>
          </a:p>
        </p:txBody>
      </p:sp>
      <p:sp>
        <p:nvSpPr>
          <p:cNvPr id="17" name="Text 12"/>
          <p:cNvSpPr/>
          <p:nvPr/>
        </p:nvSpPr>
        <p:spPr>
          <a:xfrm>
            <a:off x="7610713" y="4953357"/>
            <a:ext cx="6178629" cy="545306"/>
          </a:xfrm>
          <a:prstGeom prst="rect">
            <a:avLst/>
          </a:prstGeom>
          <a:noFill/>
          <a:ln/>
        </p:spPr>
        <p:txBody>
          <a:bodyPr wrap="square" lIns="0" tIns="0" rIns="0" bIns="0" rtlCol="0" anchor="t"/>
          <a:lstStyle/>
          <a:p>
            <a:pPr marL="0" indent="0" algn="l">
              <a:lnSpc>
                <a:spcPts val="2100"/>
              </a:lnSpc>
              <a:buNone/>
            </a:pPr>
            <a:r>
              <a:rPr lang="en-US" sz="1400" dirty="0">
                <a:solidFill>
                  <a:srgbClr val="E2E6E9"/>
                </a:solidFill>
                <a:latin typeface="Source Sans 3" pitchFamily="34" charset="0"/>
                <a:ea typeface="Source Sans 3" pitchFamily="34" charset="-122"/>
                <a:cs typeface="Source Sans 3" pitchFamily="34" charset="-120"/>
              </a:rPr>
              <a:t>Implement advanced computer vision algorithms using Python and MediaPipe to accurately track hand landmarks.</a:t>
            </a:r>
            <a:endParaRPr lang="en-US" sz="1400" dirty="0"/>
          </a:p>
        </p:txBody>
      </p:sp>
      <p:sp>
        <p:nvSpPr>
          <p:cNvPr id="18" name="Shape 13"/>
          <p:cNvSpPr/>
          <p:nvPr/>
        </p:nvSpPr>
        <p:spPr>
          <a:xfrm>
            <a:off x="636389" y="6157793"/>
            <a:ext cx="6587847" cy="1571982"/>
          </a:xfrm>
          <a:prstGeom prst="roundRect">
            <a:avLst>
              <a:gd name="adj" fmla="val 6980"/>
            </a:avLst>
          </a:prstGeom>
          <a:solidFill>
            <a:srgbClr val="111213"/>
          </a:solidFill>
          <a:ln/>
        </p:spPr>
      </p:sp>
      <p:sp>
        <p:nvSpPr>
          <p:cNvPr id="19" name="Shape 14"/>
          <p:cNvSpPr/>
          <p:nvPr/>
        </p:nvSpPr>
        <p:spPr>
          <a:xfrm>
            <a:off x="636389" y="6134933"/>
            <a:ext cx="6587847" cy="91440"/>
          </a:xfrm>
          <a:prstGeom prst="roundRect">
            <a:avLst>
              <a:gd name="adj" fmla="val 29829"/>
            </a:avLst>
          </a:prstGeom>
          <a:solidFill>
            <a:srgbClr val="FFFFFF"/>
          </a:solidFill>
          <a:ln/>
        </p:spPr>
      </p:sp>
      <p:sp>
        <p:nvSpPr>
          <p:cNvPr id="20" name="Shape 15"/>
          <p:cNvSpPr/>
          <p:nvPr/>
        </p:nvSpPr>
        <p:spPr>
          <a:xfrm>
            <a:off x="3657540" y="5885140"/>
            <a:ext cx="545425" cy="545425"/>
          </a:xfrm>
          <a:prstGeom prst="roundRect">
            <a:avLst>
              <a:gd name="adj" fmla="val 167649"/>
            </a:avLst>
          </a:prstGeom>
          <a:solidFill>
            <a:srgbClr val="FFFFFF"/>
          </a:solidFill>
          <a:ln/>
        </p:spPr>
      </p:sp>
      <p:pic>
        <p:nvPicPr>
          <p:cNvPr id="21" name="Image 3" descr="preencoded.png"/>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3821132" y="6048732"/>
            <a:ext cx="218123" cy="218123"/>
          </a:xfrm>
          <a:prstGeom prst="rect">
            <a:avLst/>
          </a:prstGeom>
        </p:spPr>
      </p:pic>
      <p:sp>
        <p:nvSpPr>
          <p:cNvPr id="22" name="Text 16"/>
          <p:cNvSpPr/>
          <p:nvPr/>
        </p:nvSpPr>
        <p:spPr>
          <a:xfrm>
            <a:off x="841058" y="6612374"/>
            <a:ext cx="2324814" cy="258366"/>
          </a:xfrm>
          <a:prstGeom prst="rect">
            <a:avLst/>
          </a:prstGeom>
          <a:noFill/>
          <a:ln/>
        </p:spPr>
        <p:txBody>
          <a:bodyPr wrap="none" lIns="0" tIns="0" rIns="0" bIns="0" rtlCol="0" anchor="t"/>
          <a:lstStyle/>
          <a:p>
            <a:pPr marL="0" indent="0" algn="l">
              <a:lnSpc>
                <a:spcPts val="2000"/>
              </a:lnSpc>
              <a:buNone/>
            </a:pPr>
            <a:r>
              <a:rPr lang="en-US" sz="1600" b="1" dirty="0">
                <a:solidFill>
                  <a:srgbClr val="E2E6E9"/>
                </a:solidFill>
                <a:latin typeface="Montserrat Bold" pitchFamily="34" charset="0"/>
                <a:ea typeface="Montserrat Bold" pitchFamily="34" charset="-122"/>
                <a:cs typeface="Montserrat Bold" pitchFamily="34" charset="-120"/>
              </a:rPr>
              <a:t>Bi-directional Control</a:t>
            </a:r>
            <a:endParaRPr lang="en-US" sz="1600" dirty="0"/>
          </a:p>
        </p:txBody>
      </p:sp>
      <p:sp>
        <p:nvSpPr>
          <p:cNvPr id="23" name="Text 17"/>
          <p:cNvSpPr/>
          <p:nvPr/>
        </p:nvSpPr>
        <p:spPr>
          <a:xfrm>
            <a:off x="841058" y="6979801"/>
            <a:ext cx="6178510" cy="545306"/>
          </a:xfrm>
          <a:prstGeom prst="rect">
            <a:avLst/>
          </a:prstGeom>
          <a:noFill/>
          <a:ln/>
        </p:spPr>
        <p:txBody>
          <a:bodyPr wrap="square" lIns="0" tIns="0" rIns="0" bIns="0" rtlCol="0" anchor="t"/>
          <a:lstStyle/>
          <a:p>
            <a:pPr marL="0" indent="0" algn="l">
              <a:lnSpc>
                <a:spcPts val="2100"/>
              </a:lnSpc>
              <a:buNone/>
            </a:pPr>
            <a:r>
              <a:rPr lang="en-US" sz="1400" dirty="0">
                <a:solidFill>
                  <a:srgbClr val="E2E6E9"/>
                </a:solidFill>
                <a:latin typeface="Source Sans 3" pitchFamily="34" charset="0"/>
                <a:ea typeface="Source Sans 3" pitchFamily="34" charset="-122"/>
                <a:cs typeface="Source Sans 3" pitchFamily="34" charset="-120"/>
              </a:rPr>
              <a:t>Create a communication protocol enabling hand gestures to control both a web-based game console and physical hardware (LEDs, Relays).</a:t>
            </a:r>
            <a:endParaRPr lang="en-US" sz="1400" dirty="0"/>
          </a:p>
        </p:txBody>
      </p:sp>
      <p:sp>
        <p:nvSpPr>
          <p:cNvPr id="24" name="Shape 18"/>
          <p:cNvSpPr/>
          <p:nvPr/>
        </p:nvSpPr>
        <p:spPr>
          <a:xfrm>
            <a:off x="7406045" y="6157793"/>
            <a:ext cx="6587966" cy="1571982"/>
          </a:xfrm>
          <a:prstGeom prst="roundRect">
            <a:avLst>
              <a:gd name="adj" fmla="val 6980"/>
            </a:avLst>
          </a:prstGeom>
          <a:solidFill>
            <a:srgbClr val="111213"/>
          </a:solidFill>
          <a:ln/>
        </p:spPr>
      </p:sp>
      <p:sp>
        <p:nvSpPr>
          <p:cNvPr id="25" name="Shape 19"/>
          <p:cNvSpPr/>
          <p:nvPr/>
        </p:nvSpPr>
        <p:spPr>
          <a:xfrm>
            <a:off x="7406045" y="6134933"/>
            <a:ext cx="6587966" cy="91440"/>
          </a:xfrm>
          <a:prstGeom prst="roundRect">
            <a:avLst>
              <a:gd name="adj" fmla="val 29829"/>
            </a:avLst>
          </a:prstGeom>
          <a:solidFill>
            <a:srgbClr val="FFFFFF"/>
          </a:solidFill>
          <a:ln/>
        </p:spPr>
      </p:sp>
      <p:sp>
        <p:nvSpPr>
          <p:cNvPr id="26" name="Shape 20"/>
          <p:cNvSpPr/>
          <p:nvPr/>
        </p:nvSpPr>
        <p:spPr>
          <a:xfrm>
            <a:off x="10427315" y="5885140"/>
            <a:ext cx="545425" cy="545425"/>
          </a:xfrm>
          <a:prstGeom prst="roundRect">
            <a:avLst>
              <a:gd name="adj" fmla="val 167649"/>
            </a:avLst>
          </a:prstGeom>
          <a:solidFill>
            <a:srgbClr val="FFFFFF"/>
          </a:solidFill>
          <a:ln/>
        </p:spPr>
      </p:sp>
      <p:pic>
        <p:nvPicPr>
          <p:cNvPr id="27" name="Image 4" descr="preencoded.png"/>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10590907" y="6048732"/>
            <a:ext cx="218123" cy="218123"/>
          </a:xfrm>
          <a:prstGeom prst="rect">
            <a:avLst/>
          </a:prstGeom>
        </p:spPr>
      </p:pic>
      <p:sp>
        <p:nvSpPr>
          <p:cNvPr id="28" name="Text 21"/>
          <p:cNvSpPr/>
          <p:nvPr/>
        </p:nvSpPr>
        <p:spPr>
          <a:xfrm>
            <a:off x="7610713" y="6612374"/>
            <a:ext cx="2470904" cy="258366"/>
          </a:xfrm>
          <a:prstGeom prst="rect">
            <a:avLst/>
          </a:prstGeom>
          <a:noFill/>
          <a:ln/>
        </p:spPr>
        <p:txBody>
          <a:bodyPr wrap="none" lIns="0" tIns="0" rIns="0" bIns="0" rtlCol="0" anchor="t"/>
          <a:lstStyle/>
          <a:p>
            <a:pPr marL="0" indent="0" algn="l">
              <a:lnSpc>
                <a:spcPts val="2000"/>
              </a:lnSpc>
              <a:buNone/>
            </a:pPr>
            <a:r>
              <a:rPr lang="en-US" sz="1600" b="1" dirty="0">
                <a:solidFill>
                  <a:srgbClr val="E2E6E9"/>
                </a:solidFill>
                <a:latin typeface="Montserrat Bold" pitchFamily="34" charset="0"/>
                <a:ea typeface="Montserrat Bold" pitchFamily="34" charset="-122"/>
                <a:cs typeface="Montserrat Bold" pitchFamily="34" charset="-120"/>
              </a:rPr>
              <a:t>Cloud Data Integration</a:t>
            </a:r>
            <a:endParaRPr lang="en-US" sz="1600" dirty="0"/>
          </a:p>
        </p:txBody>
      </p:sp>
      <p:sp>
        <p:nvSpPr>
          <p:cNvPr id="29" name="Text 22"/>
          <p:cNvSpPr/>
          <p:nvPr/>
        </p:nvSpPr>
        <p:spPr>
          <a:xfrm>
            <a:off x="7610713" y="6979801"/>
            <a:ext cx="6178629" cy="545306"/>
          </a:xfrm>
          <a:prstGeom prst="rect">
            <a:avLst/>
          </a:prstGeom>
          <a:noFill/>
          <a:ln/>
        </p:spPr>
        <p:txBody>
          <a:bodyPr wrap="square" lIns="0" tIns="0" rIns="0" bIns="0" rtlCol="0" anchor="t"/>
          <a:lstStyle/>
          <a:p>
            <a:pPr marL="0" indent="0" algn="l">
              <a:lnSpc>
                <a:spcPts val="2100"/>
              </a:lnSpc>
              <a:buNone/>
            </a:pPr>
            <a:r>
              <a:rPr lang="en-US" sz="1400" dirty="0">
                <a:solidFill>
                  <a:srgbClr val="E2E6E9"/>
                </a:solidFill>
                <a:latin typeface="Source Sans 3" pitchFamily="34" charset="0"/>
                <a:ea typeface="Source Sans 3" pitchFamily="34" charset="-122"/>
                <a:cs typeface="Source Sans 3" pitchFamily="34" charset="-120"/>
              </a:rPr>
              <a:t>Integrate Firebase for persistent data storage, supporting features like game leaderboards and security access logs.</a:t>
            </a:r>
            <a:endParaRPr lang="en-US" sz="1400" dirty="0"/>
          </a:p>
        </p:txBody>
      </p:sp>
      <p:sp>
        <p:nvSpPr>
          <p:cNvPr id="30" name="Rectangle 29">
            <a:extLst>
              <a:ext uri="{FF2B5EF4-FFF2-40B4-BE49-F238E27FC236}">
                <a16:creationId xmlns:a16="http://schemas.microsoft.com/office/drawing/2014/main" id="{FBA81146-57DA-BD90-5F39-6F4D9B23CEE7}"/>
              </a:ext>
            </a:extLst>
          </p:cNvPr>
          <p:cNvSpPr/>
          <p:nvPr/>
        </p:nvSpPr>
        <p:spPr>
          <a:xfrm>
            <a:off x="12861364" y="7739529"/>
            <a:ext cx="1637553" cy="406400"/>
          </a:xfrm>
          <a:prstGeom prst="rect">
            <a:avLst/>
          </a:prstGeom>
          <a:solidFill>
            <a:srgbClr val="1112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40673"/>
          </a:xfrm>
          <a:prstGeom prst="rect">
            <a:avLst/>
          </a:prstGeom>
        </p:spPr>
      </p:pic>
      <p:sp>
        <p:nvSpPr>
          <p:cNvPr id="3" name="Shape 0"/>
          <p:cNvSpPr/>
          <p:nvPr/>
        </p:nvSpPr>
        <p:spPr>
          <a:xfrm>
            <a:off x="6148507" y="520184"/>
            <a:ext cx="928688" cy="340281"/>
          </a:xfrm>
          <a:prstGeom prst="roundRect">
            <a:avLst>
              <a:gd name="adj" fmla="val 6671"/>
            </a:avLst>
          </a:prstGeom>
          <a:solidFill>
            <a:srgbClr val="262626"/>
          </a:solidFill>
          <a:ln/>
        </p:spPr>
      </p:sp>
      <p:sp>
        <p:nvSpPr>
          <p:cNvPr id="4" name="Text 1"/>
          <p:cNvSpPr/>
          <p:nvPr/>
        </p:nvSpPr>
        <p:spPr>
          <a:xfrm>
            <a:off x="6261973" y="576858"/>
            <a:ext cx="701754" cy="226933"/>
          </a:xfrm>
          <a:prstGeom prst="rect">
            <a:avLst/>
          </a:prstGeom>
          <a:noFill/>
          <a:ln/>
        </p:spPr>
        <p:txBody>
          <a:bodyPr wrap="none" lIns="0" tIns="0" rIns="0" bIns="0" rtlCol="0" anchor="t"/>
          <a:lstStyle/>
          <a:p>
            <a:pPr marL="0" indent="0" algn="l">
              <a:lnSpc>
                <a:spcPts val="1750"/>
              </a:lnSpc>
              <a:buNone/>
            </a:pPr>
            <a:r>
              <a:rPr lang="en-US" sz="1150" dirty="0">
                <a:solidFill>
                  <a:srgbClr val="E2E6E9"/>
                </a:solidFill>
                <a:latin typeface="Source Sans 3" pitchFamily="34" charset="0"/>
                <a:ea typeface="Source Sans 3" pitchFamily="34" charset="-122"/>
                <a:cs typeface="Source Sans 3" pitchFamily="34" charset="-120"/>
              </a:rPr>
              <a:t>CHAPTER 3</a:t>
            </a:r>
            <a:endParaRPr lang="en-US" sz="1150" dirty="0"/>
          </a:p>
        </p:txBody>
      </p:sp>
      <p:sp>
        <p:nvSpPr>
          <p:cNvPr id="5" name="Text 2"/>
          <p:cNvSpPr/>
          <p:nvPr/>
        </p:nvSpPr>
        <p:spPr>
          <a:xfrm>
            <a:off x="6148507" y="936069"/>
            <a:ext cx="7426285" cy="429935"/>
          </a:xfrm>
          <a:prstGeom prst="rect">
            <a:avLst/>
          </a:prstGeom>
          <a:noFill/>
          <a:ln/>
        </p:spPr>
        <p:txBody>
          <a:bodyPr wrap="none" lIns="0" tIns="0" rIns="0" bIns="0" rtlCol="0" anchor="t"/>
          <a:lstStyle/>
          <a:p>
            <a:pPr marL="0" indent="0" algn="l">
              <a:lnSpc>
                <a:spcPts val="3350"/>
              </a:lnSpc>
              <a:buNone/>
            </a:pPr>
            <a:r>
              <a:rPr lang="en-US" sz="2700" b="1" dirty="0">
                <a:solidFill>
                  <a:srgbClr val="FFFFFF"/>
                </a:solidFill>
                <a:latin typeface="Montserrat Bold" pitchFamily="34" charset="0"/>
                <a:ea typeface="Montserrat Bold" pitchFamily="34" charset="-122"/>
                <a:cs typeface="Montserrat Bold" pitchFamily="34" charset="-120"/>
              </a:rPr>
              <a:t>System Architecture: Client-Server Model</a:t>
            </a:r>
            <a:endParaRPr lang="en-US" sz="2700" dirty="0"/>
          </a:p>
        </p:txBody>
      </p:sp>
      <p:pic>
        <p:nvPicPr>
          <p:cNvPr id="6" name="Image 1" descr="preencoded.png"/>
          <p:cNvPicPr>
            <a:picLocks noChangeAspect="1"/>
          </p:cNvPicPr>
          <p:nvPr/>
        </p:nvPicPr>
        <p:blipFill>
          <a:blip r:embed="rId4"/>
          <a:stretch>
            <a:fillRect/>
          </a:stretch>
        </p:blipFill>
        <p:spPr>
          <a:xfrm>
            <a:off x="6567607" y="1649730"/>
            <a:ext cx="6981468" cy="4723090"/>
          </a:xfrm>
          <a:prstGeom prst="rect">
            <a:avLst/>
          </a:prstGeom>
        </p:spPr>
      </p:pic>
      <p:sp>
        <p:nvSpPr>
          <p:cNvPr id="7" name="Text 3"/>
          <p:cNvSpPr/>
          <p:nvPr/>
        </p:nvSpPr>
        <p:spPr>
          <a:xfrm>
            <a:off x="9406156" y="3538106"/>
            <a:ext cx="1271259" cy="792599"/>
          </a:xfrm>
          <a:prstGeom prst="rect">
            <a:avLst/>
          </a:prstGeom>
          <a:noFill/>
          <a:ln/>
        </p:spPr>
        <p:txBody>
          <a:bodyPr wrap="square" lIns="0" tIns="0" rIns="0" bIns="0" rtlCol="0" anchor="t"/>
          <a:lstStyle/>
          <a:p>
            <a:pPr marL="0" indent="0" algn="ctr">
              <a:lnSpc>
                <a:spcPts val="1500"/>
              </a:lnSpc>
              <a:buNone/>
            </a:pPr>
            <a:r>
              <a:rPr lang="en-US" sz="1200" b="1" dirty="0">
                <a:solidFill>
                  <a:srgbClr val="000000"/>
                </a:solidFill>
                <a:latin typeface="Montserrat Bold" pitchFamily="34" charset="0"/>
                <a:ea typeface="Montserrat Bold" pitchFamily="34" charset="-122"/>
                <a:cs typeface="Montserrat Bold" pitchFamily="34" charset="-120"/>
              </a:rPr>
              <a:t>Client-Server Flow</a:t>
            </a:r>
            <a:endParaRPr lang="en-US" sz="1200" dirty="0"/>
          </a:p>
        </p:txBody>
      </p:sp>
      <p:sp>
        <p:nvSpPr>
          <p:cNvPr id="8" name="Text 4"/>
          <p:cNvSpPr/>
          <p:nvPr/>
        </p:nvSpPr>
        <p:spPr>
          <a:xfrm>
            <a:off x="11306101" y="5001055"/>
            <a:ext cx="1891224" cy="264200"/>
          </a:xfrm>
          <a:prstGeom prst="rect">
            <a:avLst/>
          </a:prstGeom>
          <a:noFill/>
          <a:ln/>
        </p:spPr>
        <p:txBody>
          <a:bodyPr wrap="none" lIns="0" tIns="0" rIns="0" bIns="0" rtlCol="0" anchor="t"/>
          <a:lstStyle/>
          <a:p>
            <a:pPr marL="0" indent="0" algn="ctr">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PC</a:t>
            </a:r>
            <a:endParaRPr lang="en-US" sz="1200" dirty="0"/>
          </a:p>
        </p:txBody>
      </p:sp>
      <p:sp>
        <p:nvSpPr>
          <p:cNvPr id="9" name="Text 5"/>
          <p:cNvSpPr/>
          <p:nvPr/>
        </p:nvSpPr>
        <p:spPr>
          <a:xfrm>
            <a:off x="11306101" y="5347939"/>
            <a:ext cx="1891224" cy="465094"/>
          </a:xfrm>
          <a:prstGeom prst="rect">
            <a:avLst/>
          </a:prstGeom>
          <a:noFill/>
          <a:ln/>
        </p:spPr>
        <p:txBody>
          <a:bodyPr wrap="square" lIns="0" tIns="0" rIns="0" bIns="0" rtlCol="0" anchor="t"/>
          <a:lstStyle/>
          <a:p>
            <a:pPr marL="0" indent="0" algn="ctr">
              <a:lnSpc>
                <a:spcPts val="1350"/>
              </a:lnSpc>
              <a:buNone/>
            </a:pPr>
            <a:r>
              <a:rPr lang="en-US" sz="1050" dirty="0">
                <a:solidFill>
                  <a:srgbClr val="E2E6E9"/>
                </a:solidFill>
                <a:latin typeface="Source Sans 3" pitchFamily="34" charset="0"/>
                <a:ea typeface="Source Sans 3" pitchFamily="34" charset="-122"/>
                <a:cs typeface="Source Sans 3" pitchFamily="34" charset="-120"/>
              </a:rPr>
              <a:t>Processing unit and gesture analysis</a:t>
            </a:r>
            <a:endParaRPr lang="en-US" sz="1050" dirty="0"/>
          </a:p>
        </p:txBody>
      </p:sp>
      <p:sp>
        <p:nvSpPr>
          <p:cNvPr id="10" name="Text 6"/>
          <p:cNvSpPr/>
          <p:nvPr/>
        </p:nvSpPr>
        <p:spPr>
          <a:xfrm>
            <a:off x="6873973" y="5001055"/>
            <a:ext cx="1891224" cy="264200"/>
          </a:xfrm>
          <a:prstGeom prst="rect">
            <a:avLst/>
          </a:prstGeom>
          <a:noFill/>
          <a:ln/>
        </p:spPr>
        <p:txBody>
          <a:bodyPr wrap="none" lIns="0" tIns="0" rIns="0" bIns="0" rtlCol="0" anchor="t"/>
          <a:lstStyle/>
          <a:p>
            <a:pPr marL="0" indent="0" algn="ctr">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Web Browser</a:t>
            </a:r>
            <a:endParaRPr lang="en-US" sz="1200" dirty="0"/>
          </a:p>
        </p:txBody>
      </p:sp>
      <p:sp>
        <p:nvSpPr>
          <p:cNvPr id="11" name="Text 7"/>
          <p:cNvSpPr/>
          <p:nvPr/>
        </p:nvSpPr>
        <p:spPr>
          <a:xfrm>
            <a:off x="6873973" y="5347939"/>
            <a:ext cx="1891224" cy="465094"/>
          </a:xfrm>
          <a:prstGeom prst="rect">
            <a:avLst/>
          </a:prstGeom>
          <a:noFill/>
          <a:ln/>
        </p:spPr>
        <p:txBody>
          <a:bodyPr wrap="square" lIns="0" tIns="0" rIns="0" bIns="0" rtlCol="0" anchor="t"/>
          <a:lstStyle/>
          <a:p>
            <a:pPr marL="0" indent="0" algn="ctr">
              <a:lnSpc>
                <a:spcPts val="1350"/>
              </a:lnSpc>
              <a:buNone/>
            </a:pPr>
            <a:r>
              <a:rPr lang="en-US" sz="1050" dirty="0">
                <a:solidFill>
                  <a:srgbClr val="E2E6E9"/>
                </a:solidFill>
                <a:latin typeface="Source Sans 3" pitchFamily="34" charset="0"/>
                <a:ea typeface="Source Sans 3" pitchFamily="34" charset="-122"/>
                <a:cs typeface="Source Sans 3" pitchFamily="34" charset="-120"/>
              </a:rPr>
              <a:t>Visual interface and game engine</a:t>
            </a:r>
            <a:endParaRPr lang="en-US" sz="1050" dirty="0"/>
          </a:p>
        </p:txBody>
      </p:sp>
      <p:sp>
        <p:nvSpPr>
          <p:cNvPr id="12" name="Text 8"/>
          <p:cNvSpPr/>
          <p:nvPr/>
        </p:nvSpPr>
        <p:spPr>
          <a:xfrm>
            <a:off x="6873973" y="2316424"/>
            <a:ext cx="1891224" cy="264200"/>
          </a:xfrm>
          <a:prstGeom prst="rect">
            <a:avLst/>
          </a:prstGeom>
          <a:noFill/>
          <a:ln/>
        </p:spPr>
        <p:txBody>
          <a:bodyPr wrap="none" lIns="0" tIns="0" rIns="0" bIns="0" rtlCol="0" anchor="t"/>
          <a:lstStyle/>
          <a:p>
            <a:pPr marL="0" indent="0" algn="ctr">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Firebase</a:t>
            </a:r>
            <a:endParaRPr lang="en-US" sz="1200" dirty="0"/>
          </a:p>
        </p:txBody>
      </p:sp>
      <p:sp>
        <p:nvSpPr>
          <p:cNvPr id="13" name="Text 9"/>
          <p:cNvSpPr/>
          <p:nvPr/>
        </p:nvSpPr>
        <p:spPr>
          <a:xfrm>
            <a:off x="6873973" y="2663307"/>
            <a:ext cx="1891224" cy="232547"/>
          </a:xfrm>
          <a:prstGeom prst="rect">
            <a:avLst/>
          </a:prstGeom>
          <a:noFill/>
          <a:ln/>
        </p:spPr>
        <p:txBody>
          <a:bodyPr wrap="none" lIns="0" tIns="0" rIns="0" bIns="0" rtlCol="0" anchor="t"/>
          <a:lstStyle/>
          <a:p>
            <a:pPr marL="0" indent="0" algn="ctr">
              <a:lnSpc>
                <a:spcPts val="1350"/>
              </a:lnSpc>
              <a:buNone/>
            </a:pPr>
            <a:r>
              <a:rPr lang="en-US" sz="1050" dirty="0">
                <a:solidFill>
                  <a:srgbClr val="E2E6E9"/>
                </a:solidFill>
                <a:latin typeface="Source Sans 3" pitchFamily="34" charset="0"/>
                <a:ea typeface="Source Sans 3" pitchFamily="34" charset="-122"/>
                <a:cs typeface="Source Sans 3" pitchFamily="34" charset="-120"/>
              </a:rPr>
              <a:t>Cloud database for state</a:t>
            </a:r>
            <a:endParaRPr lang="en-US" sz="1050" dirty="0"/>
          </a:p>
        </p:txBody>
      </p:sp>
      <p:sp>
        <p:nvSpPr>
          <p:cNvPr id="14" name="Text 10"/>
          <p:cNvSpPr/>
          <p:nvPr/>
        </p:nvSpPr>
        <p:spPr>
          <a:xfrm>
            <a:off x="11318213" y="2200150"/>
            <a:ext cx="1891224" cy="264200"/>
          </a:xfrm>
          <a:prstGeom prst="rect">
            <a:avLst/>
          </a:prstGeom>
          <a:noFill/>
          <a:ln/>
        </p:spPr>
        <p:txBody>
          <a:bodyPr wrap="none" lIns="0" tIns="0" rIns="0" bIns="0" rtlCol="0" anchor="t"/>
          <a:lstStyle/>
          <a:p>
            <a:pPr marL="0" indent="0" algn="ctr">
              <a:lnSpc>
                <a:spcPts val="1500"/>
              </a:lnSpc>
              <a:buNone/>
            </a:pPr>
            <a:r>
              <a:rPr lang="en-US" sz="1200" b="1" dirty="0">
                <a:solidFill>
                  <a:srgbClr val="E2E6E9"/>
                </a:solidFill>
                <a:latin typeface="Montserrat Bold" pitchFamily="34" charset="0"/>
                <a:ea typeface="Montserrat Bold" pitchFamily="34" charset="-122"/>
                <a:cs typeface="Montserrat Bold" pitchFamily="34" charset="-120"/>
              </a:rPr>
              <a:t>ESP32</a:t>
            </a:r>
            <a:endParaRPr lang="en-US" sz="1200" dirty="0"/>
          </a:p>
        </p:txBody>
      </p:sp>
      <p:sp>
        <p:nvSpPr>
          <p:cNvPr id="15" name="Text 11"/>
          <p:cNvSpPr/>
          <p:nvPr/>
        </p:nvSpPr>
        <p:spPr>
          <a:xfrm>
            <a:off x="11318213" y="2547034"/>
            <a:ext cx="1891224" cy="465095"/>
          </a:xfrm>
          <a:prstGeom prst="rect">
            <a:avLst/>
          </a:prstGeom>
          <a:noFill/>
          <a:ln/>
        </p:spPr>
        <p:txBody>
          <a:bodyPr wrap="square" lIns="0" tIns="0" rIns="0" bIns="0" rtlCol="0" anchor="t"/>
          <a:lstStyle/>
          <a:p>
            <a:pPr marL="0" indent="0" algn="ctr">
              <a:lnSpc>
                <a:spcPts val="1350"/>
              </a:lnSpc>
              <a:buNone/>
            </a:pPr>
            <a:r>
              <a:rPr lang="en-US" sz="1050" dirty="0">
                <a:solidFill>
                  <a:srgbClr val="E2E6E9"/>
                </a:solidFill>
                <a:latin typeface="Source Sans 3" pitchFamily="34" charset="0"/>
                <a:ea typeface="Source Sans 3" pitchFamily="34" charset="-122"/>
                <a:cs typeface="Source Sans 3" pitchFamily="34" charset="-120"/>
              </a:rPr>
              <a:t>Video server and actuator</a:t>
            </a:r>
            <a:endParaRPr lang="en-US" sz="1050" dirty="0"/>
          </a:p>
        </p:txBody>
      </p:sp>
      <p:sp>
        <p:nvSpPr>
          <p:cNvPr id="16" name="Text 12"/>
          <p:cNvSpPr/>
          <p:nvPr/>
        </p:nvSpPr>
        <p:spPr>
          <a:xfrm>
            <a:off x="6148507" y="6585585"/>
            <a:ext cx="7819787" cy="1134904"/>
          </a:xfrm>
          <a:prstGeom prst="rect">
            <a:avLst/>
          </a:prstGeom>
          <a:noFill/>
          <a:ln/>
        </p:spPr>
        <p:txBody>
          <a:bodyPr wrap="square" lIns="0" tIns="0" rIns="0" bIns="0" rtlCol="0" anchor="t"/>
          <a:lstStyle/>
          <a:p>
            <a:pPr marL="0" indent="0" algn="l">
              <a:lnSpc>
                <a:spcPts val="2200"/>
              </a:lnSpc>
              <a:buNone/>
            </a:pPr>
            <a:r>
              <a:rPr lang="en-US" sz="1450" dirty="0">
                <a:solidFill>
                  <a:srgbClr val="E2E6E9"/>
                </a:solidFill>
                <a:latin typeface="Source Sans 3" pitchFamily="34" charset="0"/>
                <a:ea typeface="Source Sans 3" pitchFamily="34" charset="-122"/>
                <a:cs typeface="Source Sans 3" pitchFamily="34" charset="-120"/>
              </a:rPr>
              <a:t>Our system leverages a robust client-server model for efficient processing and seamless interaction. The ESP32 handles video and physical actuation, while the PC processes the video feed for gesture recognition. The web browser serves as the dynamic visual interface and game engine, all backed by Firebase for data persistence.</a:t>
            </a:r>
            <a:endParaRPr lang="en-US" sz="1450" dirty="0"/>
          </a:p>
        </p:txBody>
      </p:sp>
      <p:sp>
        <p:nvSpPr>
          <p:cNvPr id="17" name="Rectangle 16">
            <a:extLst>
              <a:ext uri="{FF2B5EF4-FFF2-40B4-BE49-F238E27FC236}">
                <a16:creationId xmlns:a16="http://schemas.microsoft.com/office/drawing/2014/main" id="{5DE7E97A-13E0-4730-7BC7-8B6CEA4DA45C}"/>
              </a:ext>
            </a:extLst>
          </p:cNvPr>
          <p:cNvSpPr/>
          <p:nvPr/>
        </p:nvSpPr>
        <p:spPr>
          <a:xfrm>
            <a:off x="12861364" y="7739529"/>
            <a:ext cx="1637553" cy="406400"/>
          </a:xfrm>
          <a:prstGeom prst="rect">
            <a:avLst/>
          </a:prstGeom>
          <a:solidFill>
            <a:srgbClr val="1112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Shape 0"/>
          <p:cNvSpPr/>
          <p:nvPr/>
        </p:nvSpPr>
        <p:spPr>
          <a:xfrm>
            <a:off x="800100" y="628650"/>
            <a:ext cx="1122402" cy="411480"/>
          </a:xfrm>
          <a:prstGeom prst="roundRect">
            <a:avLst>
              <a:gd name="adj" fmla="val 6667"/>
            </a:avLst>
          </a:prstGeom>
          <a:solidFill>
            <a:srgbClr val="262626"/>
          </a:solidFill>
          <a:ln/>
        </p:spPr>
      </p:sp>
      <p:sp>
        <p:nvSpPr>
          <p:cNvPr id="3" name="Text 1"/>
          <p:cNvSpPr/>
          <p:nvPr/>
        </p:nvSpPr>
        <p:spPr>
          <a:xfrm>
            <a:off x="937260" y="697230"/>
            <a:ext cx="848082" cy="274320"/>
          </a:xfrm>
          <a:prstGeom prst="rect">
            <a:avLst/>
          </a:prstGeom>
          <a:noFill/>
          <a:ln/>
        </p:spPr>
        <p:txBody>
          <a:bodyPr wrap="none" lIns="0" tIns="0" rIns="0" bIns="0" rtlCol="0" anchor="t"/>
          <a:lstStyle/>
          <a:p>
            <a:pPr marL="0" indent="0" algn="l">
              <a:lnSpc>
                <a:spcPts val="2150"/>
              </a:lnSpc>
              <a:buNone/>
            </a:pPr>
            <a:r>
              <a:rPr lang="en-US" sz="1400" dirty="0">
                <a:solidFill>
                  <a:srgbClr val="E2E6E9"/>
                </a:solidFill>
                <a:latin typeface="Source Sans 3" pitchFamily="34" charset="0"/>
                <a:ea typeface="Source Sans 3" pitchFamily="34" charset="-122"/>
                <a:cs typeface="Source Sans 3" pitchFamily="34" charset="-120"/>
              </a:rPr>
              <a:t>CHAPTER 4</a:t>
            </a:r>
            <a:endParaRPr lang="en-US" sz="1400" dirty="0"/>
          </a:p>
        </p:txBody>
      </p:sp>
      <p:sp>
        <p:nvSpPr>
          <p:cNvPr id="4" name="Text 2"/>
          <p:cNvSpPr/>
          <p:nvPr/>
        </p:nvSpPr>
        <p:spPr>
          <a:xfrm>
            <a:off x="800100" y="1131570"/>
            <a:ext cx="11447859" cy="519470"/>
          </a:xfrm>
          <a:prstGeom prst="rect">
            <a:avLst/>
          </a:prstGeom>
          <a:noFill/>
          <a:ln/>
        </p:spPr>
        <p:txBody>
          <a:bodyPr wrap="none" lIns="0" tIns="0" rIns="0" bIns="0" rtlCol="0" anchor="t"/>
          <a:lstStyle/>
          <a:p>
            <a:pPr marL="0" indent="0" algn="l">
              <a:lnSpc>
                <a:spcPts val="4050"/>
              </a:lnSpc>
              <a:buNone/>
            </a:pPr>
            <a:r>
              <a:rPr lang="en-US" sz="3250" b="1" dirty="0">
                <a:solidFill>
                  <a:srgbClr val="FFFFFF"/>
                </a:solidFill>
                <a:latin typeface="Montserrat Bold" pitchFamily="34" charset="0"/>
                <a:ea typeface="Montserrat Bold" pitchFamily="34" charset="-122"/>
                <a:cs typeface="Montserrat Bold" pitchFamily="34" charset="-120"/>
              </a:rPr>
              <a:t>Hardware Deep Dive: The Foundation of VisualSense</a:t>
            </a:r>
            <a:endParaRPr lang="en-US" sz="3250" dirty="0"/>
          </a:p>
        </p:txBody>
      </p:sp>
      <p:sp>
        <p:nvSpPr>
          <p:cNvPr id="5" name="Shape 3"/>
          <p:cNvSpPr/>
          <p:nvPr/>
        </p:nvSpPr>
        <p:spPr>
          <a:xfrm>
            <a:off x="800100" y="1993940"/>
            <a:ext cx="4191000" cy="2862143"/>
          </a:xfrm>
          <a:prstGeom prst="roundRect">
            <a:avLst>
              <a:gd name="adj" fmla="val 1198"/>
            </a:avLst>
          </a:prstGeom>
          <a:solidFill>
            <a:srgbClr val="303132"/>
          </a:solidFill>
          <a:ln/>
        </p:spPr>
      </p:sp>
      <p:sp>
        <p:nvSpPr>
          <p:cNvPr id="6" name="Shape 4"/>
          <p:cNvSpPr/>
          <p:nvPr/>
        </p:nvSpPr>
        <p:spPr>
          <a:xfrm>
            <a:off x="1028700" y="2222540"/>
            <a:ext cx="685800" cy="685800"/>
          </a:xfrm>
          <a:prstGeom prst="roundRect">
            <a:avLst>
              <a:gd name="adj" fmla="val 13332000"/>
            </a:avLst>
          </a:prstGeom>
          <a:solidFill>
            <a:srgbClr val="FFFFFF"/>
          </a:solidFill>
          <a:ln/>
        </p:spPr>
      </p:sp>
      <p:pic>
        <p:nvPicPr>
          <p:cNvPr id="7" name="Image 0" descr="preencoded.png"/>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217295" y="2411135"/>
            <a:ext cx="308610" cy="308610"/>
          </a:xfrm>
          <a:prstGeom prst="rect">
            <a:avLst/>
          </a:prstGeom>
        </p:spPr>
      </p:pic>
      <p:sp>
        <p:nvSpPr>
          <p:cNvPr id="8" name="Text 5"/>
          <p:cNvSpPr/>
          <p:nvPr/>
        </p:nvSpPr>
        <p:spPr>
          <a:xfrm>
            <a:off x="1028700" y="3136940"/>
            <a:ext cx="3216116" cy="324683"/>
          </a:xfrm>
          <a:prstGeom prst="rect">
            <a:avLst/>
          </a:prstGeom>
          <a:noFill/>
          <a:ln/>
        </p:spPr>
        <p:txBody>
          <a:bodyPr wrap="none" lIns="0" tIns="0" rIns="0" bIns="0" rtlCol="0" anchor="t"/>
          <a:lstStyle/>
          <a:p>
            <a:pPr marL="0" indent="0" algn="l">
              <a:lnSpc>
                <a:spcPts val="2550"/>
              </a:lnSpc>
              <a:buNone/>
            </a:pPr>
            <a:r>
              <a:rPr lang="en-US" sz="2000" b="1" dirty="0">
                <a:solidFill>
                  <a:srgbClr val="E2E6E9"/>
                </a:solidFill>
                <a:latin typeface="Montserrat Bold" pitchFamily="34" charset="0"/>
                <a:ea typeface="Montserrat Bold" pitchFamily="34" charset="-122"/>
                <a:cs typeface="Montserrat Bold" pitchFamily="34" charset="-120"/>
              </a:rPr>
              <a:t>ESP32-CAM (AI Thinker)</a:t>
            </a:r>
            <a:endParaRPr lang="en-US" sz="2000" dirty="0"/>
          </a:p>
        </p:txBody>
      </p:sp>
      <p:sp>
        <p:nvSpPr>
          <p:cNvPr id="9" name="Text 6"/>
          <p:cNvSpPr/>
          <p:nvPr/>
        </p:nvSpPr>
        <p:spPr>
          <a:xfrm>
            <a:off x="1028700" y="3598783"/>
            <a:ext cx="3733800" cy="1028700"/>
          </a:xfrm>
          <a:prstGeom prst="rect">
            <a:avLst/>
          </a:prstGeom>
          <a:noFill/>
          <a:ln/>
        </p:spPr>
        <p:txBody>
          <a:bodyPr wrap="square" lIns="0" tIns="0" rIns="0" bIns="0" rtlCol="0" anchor="t"/>
          <a:lstStyle/>
          <a:p>
            <a:pPr marL="0" indent="0" algn="l">
              <a:lnSpc>
                <a:spcPts val="2700"/>
              </a:lnSpc>
              <a:buNone/>
            </a:pPr>
            <a:r>
              <a:rPr lang="en-US" sz="1800" dirty="0">
                <a:solidFill>
                  <a:srgbClr val="E2E6E9"/>
                </a:solidFill>
                <a:latin typeface="Source Sans 3" pitchFamily="34" charset="0"/>
                <a:ea typeface="Source Sans 3" pitchFamily="34" charset="-122"/>
                <a:cs typeface="Source Sans 3" pitchFamily="34" charset="-120"/>
              </a:rPr>
              <a:t>The brain of our system, managing Wi-Fi connectivity and high-resolution video capture.</a:t>
            </a:r>
            <a:endParaRPr lang="en-US" sz="1800" dirty="0"/>
          </a:p>
        </p:txBody>
      </p:sp>
      <p:sp>
        <p:nvSpPr>
          <p:cNvPr id="10" name="Shape 7"/>
          <p:cNvSpPr/>
          <p:nvPr/>
        </p:nvSpPr>
        <p:spPr>
          <a:xfrm>
            <a:off x="5219700" y="1993940"/>
            <a:ext cx="4191000" cy="2862143"/>
          </a:xfrm>
          <a:prstGeom prst="roundRect">
            <a:avLst>
              <a:gd name="adj" fmla="val 1198"/>
            </a:avLst>
          </a:prstGeom>
          <a:solidFill>
            <a:srgbClr val="303132"/>
          </a:solidFill>
          <a:ln/>
        </p:spPr>
      </p:sp>
      <p:sp>
        <p:nvSpPr>
          <p:cNvPr id="11" name="Shape 8"/>
          <p:cNvSpPr/>
          <p:nvPr/>
        </p:nvSpPr>
        <p:spPr>
          <a:xfrm>
            <a:off x="5448300" y="2222540"/>
            <a:ext cx="685800" cy="685800"/>
          </a:xfrm>
          <a:prstGeom prst="roundRect">
            <a:avLst>
              <a:gd name="adj" fmla="val 13332000"/>
            </a:avLst>
          </a:prstGeom>
          <a:solidFill>
            <a:srgbClr val="FFFFFF"/>
          </a:solidFill>
          <a:ln/>
        </p:spPr>
      </p:sp>
      <p:pic>
        <p:nvPicPr>
          <p:cNvPr id="12" name="Image 1" descr="preencoded.png"/>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5636895" y="2411135"/>
            <a:ext cx="308610" cy="308610"/>
          </a:xfrm>
          <a:prstGeom prst="rect">
            <a:avLst/>
          </a:prstGeom>
        </p:spPr>
      </p:pic>
      <p:sp>
        <p:nvSpPr>
          <p:cNvPr id="13" name="Text 9"/>
          <p:cNvSpPr/>
          <p:nvPr/>
        </p:nvSpPr>
        <p:spPr>
          <a:xfrm>
            <a:off x="5448300" y="3136940"/>
            <a:ext cx="3292435" cy="324683"/>
          </a:xfrm>
          <a:prstGeom prst="rect">
            <a:avLst/>
          </a:prstGeom>
          <a:noFill/>
          <a:ln/>
        </p:spPr>
        <p:txBody>
          <a:bodyPr wrap="none" lIns="0" tIns="0" rIns="0" bIns="0" rtlCol="0" anchor="t"/>
          <a:lstStyle/>
          <a:p>
            <a:pPr marL="0" indent="0" algn="l">
              <a:lnSpc>
                <a:spcPts val="2550"/>
              </a:lnSpc>
              <a:buNone/>
            </a:pPr>
            <a:r>
              <a:rPr lang="en-US" sz="2000" b="1" dirty="0">
                <a:solidFill>
                  <a:srgbClr val="E2E6E9"/>
                </a:solidFill>
                <a:latin typeface="Montserrat Bold" pitchFamily="34" charset="0"/>
                <a:ea typeface="Montserrat Bold" pitchFamily="34" charset="-122"/>
                <a:cs typeface="Montserrat Bold" pitchFamily="34" charset="-120"/>
              </a:rPr>
              <a:t>OV2640 Camera Module</a:t>
            </a:r>
            <a:endParaRPr lang="en-US" sz="2000" dirty="0"/>
          </a:p>
        </p:txBody>
      </p:sp>
      <p:sp>
        <p:nvSpPr>
          <p:cNvPr id="14" name="Text 10"/>
          <p:cNvSpPr/>
          <p:nvPr/>
        </p:nvSpPr>
        <p:spPr>
          <a:xfrm>
            <a:off x="5448300" y="3598783"/>
            <a:ext cx="3733800" cy="685800"/>
          </a:xfrm>
          <a:prstGeom prst="rect">
            <a:avLst/>
          </a:prstGeom>
          <a:noFill/>
          <a:ln/>
        </p:spPr>
        <p:txBody>
          <a:bodyPr wrap="square" lIns="0" tIns="0" rIns="0" bIns="0" rtlCol="0" anchor="t"/>
          <a:lstStyle/>
          <a:p>
            <a:pPr marL="0" indent="0" algn="l">
              <a:lnSpc>
                <a:spcPts val="2700"/>
              </a:lnSpc>
              <a:buNone/>
            </a:pPr>
            <a:r>
              <a:rPr lang="en-US" sz="1800" dirty="0">
                <a:solidFill>
                  <a:srgbClr val="E2E6E9"/>
                </a:solidFill>
                <a:latin typeface="Source Sans 3" pitchFamily="34" charset="0"/>
                <a:ea typeface="Source Sans 3" pitchFamily="34" charset="-122"/>
                <a:cs typeface="Source Sans 3" pitchFamily="34" charset="-120"/>
              </a:rPr>
              <a:t>A 2MP sensor providing the visual input necessary for gesture detection.</a:t>
            </a:r>
            <a:endParaRPr lang="en-US" sz="1800" dirty="0"/>
          </a:p>
        </p:txBody>
      </p:sp>
      <p:sp>
        <p:nvSpPr>
          <p:cNvPr id="15" name="Shape 11"/>
          <p:cNvSpPr/>
          <p:nvPr/>
        </p:nvSpPr>
        <p:spPr>
          <a:xfrm>
            <a:off x="9639300" y="1993940"/>
            <a:ext cx="4191000" cy="2862143"/>
          </a:xfrm>
          <a:prstGeom prst="roundRect">
            <a:avLst>
              <a:gd name="adj" fmla="val 1198"/>
            </a:avLst>
          </a:prstGeom>
          <a:solidFill>
            <a:srgbClr val="303132"/>
          </a:solidFill>
          <a:ln/>
        </p:spPr>
      </p:sp>
      <p:sp>
        <p:nvSpPr>
          <p:cNvPr id="16" name="Shape 12"/>
          <p:cNvSpPr/>
          <p:nvPr/>
        </p:nvSpPr>
        <p:spPr>
          <a:xfrm>
            <a:off x="9867900" y="2222540"/>
            <a:ext cx="685800" cy="685800"/>
          </a:xfrm>
          <a:prstGeom prst="roundRect">
            <a:avLst>
              <a:gd name="adj" fmla="val 13332000"/>
            </a:avLst>
          </a:prstGeom>
          <a:solidFill>
            <a:srgbClr val="FFFFFF"/>
          </a:solidFill>
          <a:ln/>
        </p:spPr>
      </p:sp>
      <p:pic>
        <p:nvPicPr>
          <p:cNvPr id="17" name="Image 2" descr="preencoded.png"/>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10056495" y="2411135"/>
            <a:ext cx="308610" cy="308610"/>
          </a:xfrm>
          <a:prstGeom prst="rect">
            <a:avLst/>
          </a:prstGeom>
        </p:spPr>
      </p:pic>
      <p:sp>
        <p:nvSpPr>
          <p:cNvPr id="18" name="Text 13"/>
          <p:cNvSpPr/>
          <p:nvPr/>
        </p:nvSpPr>
        <p:spPr>
          <a:xfrm>
            <a:off x="9867900" y="3136940"/>
            <a:ext cx="2597944" cy="324683"/>
          </a:xfrm>
          <a:prstGeom prst="rect">
            <a:avLst/>
          </a:prstGeom>
          <a:noFill/>
          <a:ln/>
        </p:spPr>
        <p:txBody>
          <a:bodyPr wrap="none" lIns="0" tIns="0" rIns="0" bIns="0" rtlCol="0" anchor="t"/>
          <a:lstStyle/>
          <a:p>
            <a:pPr marL="0" indent="0" algn="l">
              <a:lnSpc>
                <a:spcPts val="2550"/>
              </a:lnSpc>
              <a:buNone/>
            </a:pPr>
            <a:r>
              <a:rPr lang="en-US" sz="2000" b="1" dirty="0">
                <a:solidFill>
                  <a:srgbClr val="E2E6E9"/>
                </a:solidFill>
                <a:latin typeface="Montserrat Bold" pitchFamily="34" charset="0"/>
                <a:ea typeface="Montserrat Bold" pitchFamily="34" charset="-122"/>
                <a:cs typeface="Montserrat Bold" pitchFamily="34" charset="-120"/>
              </a:rPr>
              <a:t>FTDI Programmer</a:t>
            </a:r>
            <a:endParaRPr lang="en-US" sz="2000" dirty="0"/>
          </a:p>
        </p:txBody>
      </p:sp>
      <p:sp>
        <p:nvSpPr>
          <p:cNvPr id="19" name="Text 14"/>
          <p:cNvSpPr/>
          <p:nvPr/>
        </p:nvSpPr>
        <p:spPr>
          <a:xfrm>
            <a:off x="9867900" y="3598783"/>
            <a:ext cx="3733800" cy="1028700"/>
          </a:xfrm>
          <a:prstGeom prst="rect">
            <a:avLst/>
          </a:prstGeom>
          <a:noFill/>
          <a:ln/>
        </p:spPr>
        <p:txBody>
          <a:bodyPr wrap="square" lIns="0" tIns="0" rIns="0" bIns="0" rtlCol="0" anchor="t"/>
          <a:lstStyle/>
          <a:p>
            <a:pPr marL="0" indent="0" algn="l">
              <a:lnSpc>
                <a:spcPts val="2700"/>
              </a:lnSpc>
              <a:buNone/>
            </a:pPr>
            <a:r>
              <a:rPr lang="en-US" sz="1800" dirty="0">
                <a:solidFill>
                  <a:srgbClr val="E2E6E9"/>
                </a:solidFill>
                <a:latin typeface="Source Sans 3" pitchFamily="34" charset="0"/>
                <a:ea typeface="Source Sans 3" pitchFamily="34" charset="-122"/>
                <a:cs typeface="Source Sans 3" pitchFamily="34" charset="-120"/>
              </a:rPr>
              <a:t>Crucial for flashing firmware onto the ESP32-CAM, ensuring proper device operation.</a:t>
            </a:r>
            <a:endParaRPr lang="en-US" sz="1800" dirty="0"/>
          </a:p>
        </p:txBody>
      </p:sp>
      <p:sp>
        <p:nvSpPr>
          <p:cNvPr id="20" name="Shape 15"/>
          <p:cNvSpPr/>
          <p:nvPr/>
        </p:nvSpPr>
        <p:spPr>
          <a:xfrm>
            <a:off x="800100" y="5084683"/>
            <a:ext cx="6400800" cy="2519243"/>
          </a:xfrm>
          <a:prstGeom prst="roundRect">
            <a:avLst>
              <a:gd name="adj" fmla="val 1361"/>
            </a:avLst>
          </a:prstGeom>
          <a:solidFill>
            <a:srgbClr val="303132"/>
          </a:solidFill>
          <a:ln/>
        </p:spPr>
      </p:sp>
      <p:sp>
        <p:nvSpPr>
          <p:cNvPr id="21" name="Shape 16"/>
          <p:cNvSpPr/>
          <p:nvPr/>
        </p:nvSpPr>
        <p:spPr>
          <a:xfrm>
            <a:off x="1028700" y="5313283"/>
            <a:ext cx="685800" cy="685800"/>
          </a:xfrm>
          <a:prstGeom prst="roundRect">
            <a:avLst>
              <a:gd name="adj" fmla="val 13332000"/>
            </a:avLst>
          </a:prstGeom>
          <a:solidFill>
            <a:srgbClr val="FFFFFF"/>
          </a:solidFill>
          <a:ln/>
        </p:spPr>
      </p:sp>
      <p:pic>
        <p:nvPicPr>
          <p:cNvPr id="22" name="Image 3" descr="preencoded.png"/>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1217295" y="5501878"/>
            <a:ext cx="308610" cy="308610"/>
          </a:xfrm>
          <a:prstGeom prst="rect">
            <a:avLst/>
          </a:prstGeom>
        </p:spPr>
      </p:pic>
      <p:sp>
        <p:nvSpPr>
          <p:cNvPr id="23" name="Text 17"/>
          <p:cNvSpPr/>
          <p:nvPr/>
        </p:nvSpPr>
        <p:spPr>
          <a:xfrm>
            <a:off x="1028700" y="6227683"/>
            <a:ext cx="2597944" cy="324683"/>
          </a:xfrm>
          <a:prstGeom prst="rect">
            <a:avLst/>
          </a:prstGeom>
          <a:noFill/>
          <a:ln/>
        </p:spPr>
        <p:txBody>
          <a:bodyPr wrap="none" lIns="0" tIns="0" rIns="0" bIns="0" rtlCol="0" anchor="t"/>
          <a:lstStyle/>
          <a:p>
            <a:pPr marL="0" indent="0" algn="l">
              <a:lnSpc>
                <a:spcPts val="2550"/>
              </a:lnSpc>
              <a:buNone/>
            </a:pPr>
            <a:r>
              <a:rPr lang="en-US" sz="2000" b="1" dirty="0">
                <a:solidFill>
                  <a:srgbClr val="E2E6E9"/>
                </a:solidFill>
                <a:latin typeface="Montserrat Bold" pitchFamily="34" charset="0"/>
                <a:ea typeface="Montserrat Bold" pitchFamily="34" charset="-122"/>
                <a:cs typeface="Montserrat Bold" pitchFamily="34" charset="-120"/>
              </a:rPr>
              <a:t>LED &amp; Resistor</a:t>
            </a:r>
            <a:endParaRPr lang="en-US" sz="2000" dirty="0"/>
          </a:p>
        </p:txBody>
      </p:sp>
      <p:sp>
        <p:nvSpPr>
          <p:cNvPr id="24" name="Text 18"/>
          <p:cNvSpPr/>
          <p:nvPr/>
        </p:nvSpPr>
        <p:spPr>
          <a:xfrm>
            <a:off x="1028700" y="6689527"/>
            <a:ext cx="5943600" cy="685800"/>
          </a:xfrm>
          <a:prstGeom prst="rect">
            <a:avLst/>
          </a:prstGeom>
          <a:noFill/>
          <a:ln/>
        </p:spPr>
        <p:txBody>
          <a:bodyPr wrap="square" lIns="0" tIns="0" rIns="0" bIns="0" rtlCol="0" anchor="t"/>
          <a:lstStyle/>
          <a:p>
            <a:pPr marL="0" indent="0" algn="l">
              <a:lnSpc>
                <a:spcPts val="2700"/>
              </a:lnSpc>
              <a:buNone/>
            </a:pPr>
            <a:r>
              <a:rPr lang="en-US" sz="1800" dirty="0">
                <a:solidFill>
                  <a:srgbClr val="E2E6E9"/>
                </a:solidFill>
                <a:latin typeface="Source Sans 3" pitchFamily="34" charset="0"/>
                <a:ea typeface="Source Sans 3" pitchFamily="34" charset="-122"/>
                <a:cs typeface="Source Sans 3" pitchFamily="34" charset="-120"/>
              </a:rPr>
              <a:t>Connected to GPIO 12 for demonstrating PWM dimming, controlled wirelessly by gestures.</a:t>
            </a:r>
            <a:endParaRPr lang="en-US" sz="1800" dirty="0"/>
          </a:p>
        </p:txBody>
      </p:sp>
      <p:sp>
        <p:nvSpPr>
          <p:cNvPr id="25" name="Shape 19"/>
          <p:cNvSpPr/>
          <p:nvPr/>
        </p:nvSpPr>
        <p:spPr>
          <a:xfrm>
            <a:off x="7429500" y="5084683"/>
            <a:ext cx="6400800" cy="2519243"/>
          </a:xfrm>
          <a:prstGeom prst="roundRect">
            <a:avLst>
              <a:gd name="adj" fmla="val 1361"/>
            </a:avLst>
          </a:prstGeom>
          <a:solidFill>
            <a:srgbClr val="303132"/>
          </a:solidFill>
          <a:ln/>
        </p:spPr>
      </p:sp>
      <p:sp>
        <p:nvSpPr>
          <p:cNvPr id="26" name="Shape 20"/>
          <p:cNvSpPr/>
          <p:nvPr/>
        </p:nvSpPr>
        <p:spPr>
          <a:xfrm>
            <a:off x="7658100" y="5313283"/>
            <a:ext cx="685800" cy="685800"/>
          </a:xfrm>
          <a:prstGeom prst="roundRect">
            <a:avLst>
              <a:gd name="adj" fmla="val 13332000"/>
            </a:avLst>
          </a:prstGeom>
          <a:solidFill>
            <a:srgbClr val="FFFFFF"/>
          </a:solidFill>
          <a:ln/>
        </p:spPr>
      </p:sp>
      <p:pic>
        <p:nvPicPr>
          <p:cNvPr id="27" name="Image 4" descr="preencoded.png"/>
          <p:cNvPicPr>
            <a:picLocks noChangeAspect="1"/>
          </p:cNvPicPr>
          <p:nvPr/>
        </p:nvPicPr>
        <p:blipFill>
          <a:blip r:embed="rId11">
            <a:extLst>
              <a:ext uri="{96DAC541-7B7A-43D3-8B79-37D633B846F1}">
                <asvg:svgBlip xmlns:asvg="http://schemas.microsoft.com/office/drawing/2016/SVG/main" r:embed="rId12"/>
              </a:ext>
            </a:extLst>
          </a:blip>
          <a:stretch>
            <a:fillRect/>
          </a:stretch>
        </p:blipFill>
        <p:spPr>
          <a:xfrm>
            <a:off x="7846695" y="5501878"/>
            <a:ext cx="308610" cy="308610"/>
          </a:xfrm>
          <a:prstGeom prst="rect">
            <a:avLst/>
          </a:prstGeom>
        </p:spPr>
      </p:pic>
      <p:sp>
        <p:nvSpPr>
          <p:cNvPr id="28" name="Text 21"/>
          <p:cNvSpPr/>
          <p:nvPr/>
        </p:nvSpPr>
        <p:spPr>
          <a:xfrm>
            <a:off x="7658100" y="6227683"/>
            <a:ext cx="2597944" cy="324683"/>
          </a:xfrm>
          <a:prstGeom prst="rect">
            <a:avLst/>
          </a:prstGeom>
          <a:noFill/>
          <a:ln/>
        </p:spPr>
        <p:txBody>
          <a:bodyPr wrap="none" lIns="0" tIns="0" rIns="0" bIns="0" rtlCol="0" anchor="t"/>
          <a:lstStyle/>
          <a:p>
            <a:pPr marL="0" indent="0" algn="l">
              <a:lnSpc>
                <a:spcPts val="2550"/>
              </a:lnSpc>
              <a:buNone/>
            </a:pPr>
            <a:r>
              <a:rPr lang="en-US" sz="2000" b="1" dirty="0">
                <a:solidFill>
                  <a:srgbClr val="E2E6E9"/>
                </a:solidFill>
                <a:latin typeface="Montserrat Bold" pitchFamily="34" charset="0"/>
                <a:ea typeface="Montserrat Bold" pitchFamily="34" charset="-122"/>
                <a:cs typeface="Montserrat Bold" pitchFamily="34" charset="-120"/>
              </a:rPr>
              <a:t>Relay Module</a:t>
            </a:r>
            <a:endParaRPr lang="en-US" sz="2000" dirty="0"/>
          </a:p>
        </p:txBody>
      </p:sp>
      <p:sp>
        <p:nvSpPr>
          <p:cNvPr id="29" name="Text 22"/>
          <p:cNvSpPr/>
          <p:nvPr/>
        </p:nvSpPr>
        <p:spPr>
          <a:xfrm>
            <a:off x="7658100" y="6689527"/>
            <a:ext cx="5943600" cy="685800"/>
          </a:xfrm>
          <a:prstGeom prst="rect">
            <a:avLst/>
          </a:prstGeom>
          <a:noFill/>
          <a:ln/>
        </p:spPr>
        <p:txBody>
          <a:bodyPr wrap="square" lIns="0" tIns="0" rIns="0" bIns="0" rtlCol="0" anchor="t"/>
          <a:lstStyle/>
          <a:p>
            <a:pPr marL="0" indent="0" algn="l">
              <a:lnSpc>
                <a:spcPts val="2700"/>
              </a:lnSpc>
              <a:buNone/>
            </a:pPr>
            <a:r>
              <a:rPr lang="en-US" sz="1800" dirty="0">
                <a:solidFill>
                  <a:srgbClr val="E2E6E9"/>
                </a:solidFill>
                <a:latin typeface="Source Sans 3" pitchFamily="34" charset="0"/>
                <a:ea typeface="Source Sans 3" pitchFamily="34" charset="-122"/>
                <a:cs typeface="Source Sans 3" pitchFamily="34" charset="-120"/>
              </a:rPr>
              <a:t>Linked to GPIO 13, enabling security access control features like 'Unlock mode'.</a:t>
            </a:r>
            <a:endParaRPr lang="en-US" sz="1800" dirty="0"/>
          </a:p>
        </p:txBody>
      </p:sp>
      <p:sp>
        <p:nvSpPr>
          <p:cNvPr id="30" name="Rectangle 29">
            <a:extLst>
              <a:ext uri="{FF2B5EF4-FFF2-40B4-BE49-F238E27FC236}">
                <a16:creationId xmlns:a16="http://schemas.microsoft.com/office/drawing/2014/main" id="{2B753745-62C3-4037-B241-607A777535C5}"/>
              </a:ext>
            </a:extLst>
          </p:cNvPr>
          <p:cNvSpPr/>
          <p:nvPr/>
        </p:nvSpPr>
        <p:spPr>
          <a:xfrm>
            <a:off x="12861364" y="7739529"/>
            <a:ext cx="1637553" cy="406400"/>
          </a:xfrm>
          <a:prstGeom prst="rect">
            <a:avLst/>
          </a:prstGeom>
          <a:solidFill>
            <a:srgbClr val="1112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Shape 0"/>
          <p:cNvSpPr/>
          <p:nvPr/>
        </p:nvSpPr>
        <p:spPr>
          <a:xfrm>
            <a:off x="6225421" y="836176"/>
            <a:ext cx="1036320" cy="380047"/>
          </a:xfrm>
          <a:prstGeom prst="roundRect">
            <a:avLst>
              <a:gd name="adj" fmla="val 6667"/>
            </a:avLst>
          </a:prstGeom>
          <a:solidFill>
            <a:srgbClr val="262626"/>
          </a:solidFill>
          <a:ln/>
        </p:spPr>
      </p:sp>
      <p:sp>
        <p:nvSpPr>
          <p:cNvPr id="4" name="Text 1"/>
          <p:cNvSpPr/>
          <p:nvPr/>
        </p:nvSpPr>
        <p:spPr>
          <a:xfrm>
            <a:off x="6352103" y="899517"/>
            <a:ext cx="782955" cy="253365"/>
          </a:xfrm>
          <a:prstGeom prst="rect">
            <a:avLst/>
          </a:prstGeom>
          <a:noFill/>
          <a:ln/>
        </p:spPr>
        <p:txBody>
          <a:bodyPr wrap="none" lIns="0" tIns="0" rIns="0" bIns="0" rtlCol="0" anchor="t"/>
          <a:lstStyle/>
          <a:p>
            <a:pPr marL="0" indent="0" algn="l">
              <a:lnSpc>
                <a:spcPts val="1950"/>
              </a:lnSpc>
              <a:buNone/>
            </a:pPr>
            <a:r>
              <a:rPr lang="en-US" sz="1300" dirty="0">
                <a:solidFill>
                  <a:srgbClr val="E2E6E9"/>
                </a:solidFill>
                <a:latin typeface="Source Sans 3" pitchFamily="34" charset="0"/>
                <a:ea typeface="Source Sans 3" pitchFamily="34" charset="-122"/>
                <a:cs typeface="Source Sans 3" pitchFamily="34" charset="-120"/>
              </a:rPr>
              <a:t>CHAPTER 5</a:t>
            </a:r>
            <a:endParaRPr lang="en-US" sz="1300" dirty="0"/>
          </a:p>
        </p:txBody>
      </p:sp>
      <p:sp>
        <p:nvSpPr>
          <p:cNvPr id="5" name="Text 2"/>
          <p:cNvSpPr/>
          <p:nvPr/>
        </p:nvSpPr>
        <p:spPr>
          <a:xfrm>
            <a:off x="6225421" y="1300639"/>
            <a:ext cx="7665958" cy="959644"/>
          </a:xfrm>
          <a:prstGeom prst="rect">
            <a:avLst/>
          </a:prstGeom>
          <a:noFill/>
          <a:ln/>
        </p:spPr>
        <p:txBody>
          <a:bodyPr wrap="square" lIns="0" tIns="0" rIns="0" bIns="0" rtlCol="0" anchor="t"/>
          <a:lstStyle/>
          <a:p>
            <a:pPr marL="0" indent="0" algn="l">
              <a:lnSpc>
                <a:spcPts val="3750"/>
              </a:lnSpc>
              <a:buNone/>
            </a:pPr>
            <a:r>
              <a:rPr lang="en-US" sz="3000" b="1" dirty="0">
                <a:solidFill>
                  <a:srgbClr val="FFFFFF"/>
                </a:solidFill>
                <a:latin typeface="Montserrat Bold" pitchFamily="34" charset="0"/>
                <a:ea typeface="Montserrat Bold" pitchFamily="34" charset="-122"/>
                <a:cs typeface="Montserrat Bold" pitchFamily="34" charset="-120"/>
              </a:rPr>
              <a:t>Software Stack: Powering Intelligent Interaction</a:t>
            </a:r>
            <a:endParaRPr lang="en-US" sz="3000" dirty="0"/>
          </a:p>
        </p:txBody>
      </p:sp>
      <p:sp>
        <p:nvSpPr>
          <p:cNvPr id="6" name="Text 3"/>
          <p:cNvSpPr/>
          <p:nvPr/>
        </p:nvSpPr>
        <p:spPr>
          <a:xfrm>
            <a:off x="6225421" y="2788087"/>
            <a:ext cx="2797254" cy="299799"/>
          </a:xfrm>
          <a:prstGeom prst="rect">
            <a:avLst/>
          </a:prstGeom>
          <a:noFill/>
          <a:ln/>
        </p:spPr>
        <p:txBody>
          <a:bodyPr wrap="none" lIns="0" tIns="0" rIns="0" bIns="0" rtlCol="0" anchor="t"/>
          <a:lstStyle/>
          <a:p>
            <a:pPr marL="0" indent="0" algn="l">
              <a:lnSpc>
                <a:spcPts val="2350"/>
              </a:lnSpc>
              <a:buNone/>
            </a:pPr>
            <a:r>
              <a:rPr lang="en-US" sz="1850" b="1" dirty="0">
                <a:solidFill>
                  <a:srgbClr val="FFFFFF"/>
                </a:solidFill>
                <a:latin typeface="Montserrat Bold" pitchFamily="34" charset="0"/>
                <a:ea typeface="Montserrat Bold" pitchFamily="34" charset="-122"/>
                <a:cs typeface="Montserrat Bold" pitchFamily="34" charset="-120"/>
              </a:rPr>
              <a:t>Embedded &amp; Backend</a:t>
            </a:r>
            <a:endParaRPr lang="en-US" sz="1850" dirty="0"/>
          </a:p>
        </p:txBody>
      </p:sp>
      <p:sp>
        <p:nvSpPr>
          <p:cNvPr id="7" name="Text 4"/>
          <p:cNvSpPr/>
          <p:nvPr/>
        </p:nvSpPr>
        <p:spPr>
          <a:xfrm>
            <a:off x="6225421" y="3298984"/>
            <a:ext cx="3575447" cy="949762"/>
          </a:xfrm>
          <a:prstGeom prst="rect">
            <a:avLst/>
          </a:prstGeom>
          <a:noFill/>
          <a:ln/>
        </p:spPr>
        <p:txBody>
          <a:bodyPr wrap="square" lIns="0" tIns="0" rIns="0" bIns="0" rtlCol="0" anchor="t"/>
          <a:lstStyle/>
          <a:p>
            <a:pPr marL="342900" indent="-342900" algn="l">
              <a:lnSpc>
                <a:spcPts val="2450"/>
              </a:lnSpc>
              <a:buSzPct val="100000"/>
              <a:buChar char="•"/>
            </a:pPr>
            <a:r>
              <a:rPr lang="en-US" sz="1650" b="1" dirty="0">
                <a:solidFill>
                  <a:srgbClr val="E2E6E9"/>
                </a:solidFill>
                <a:latin typeface="Source Sans 3" pitchFamily="34" charset="0"/>
                <a:ea typeface="Source Sans 3" pitchFamily="34" charset="-122"/>
                <a:cs typeface="Source Sans 3" pitchFamily="34" charset="-120"/>
              </a:rPr>
              <a:t>Arduino IDE:</a:t>
            </a:r>
            <a:r>
              <a:rPr lang="en-US" sz="1650" dirty="0">
                <a:solidFill>
                  <a:srgbClr val="E2E6E9"/>
                </a:solidFill>
                <a:latin typeface="Source Sans 3" pitchFamily="34" charset="0"/>
                <a:ea typeface="Source Sans 3" pitchFamily="34" charset="-122"/>
                <a:cs typeface="Source Sans 3" pitchFamily="34" charset="-120"/>
              </a:rPr>
              <a:t> For C++ firmware (Hand_Tracking.ino), handling web server, camera config, and UDP.</a:t>
            </a:r>
            <a:endParaRPr lang="en-US" sz="1650" dirty="0"/>
          </a:p>
        </p:txBody>
      </p:sp>
      <p:sp>
        <p:nvSpPr>
          <p:cNvPr id="8" name="Text 5"/>
          <p:cNvSpPr/>
          <p:nvPr/>
        </p:nvSpPr>
        <p:spPr>
          <a:xfrm>
            <a:off x="6225421" y="4322564"/>
            <a:ext cx="3575447" cy="949762"/>
          </a:xfrm>
          <a:prstGeom prst="rect">
            <a:avLst/>
          </a:prstGeom>
          <a:noFill/>
          <a:ln/>
        </p:spPr>
        <p:txBody>
          <a:bodyPr wrap="square" lIns="0" tIns="0" rIns="0" bIns="0" rtlCol="0" anchor="t"/>
          <a:lstStyle/>
          <a:p>
            <a:pPr marL="342900" indent="-342900" algn="l">
              <a:lnSpc>
                <a:spcPts val="2450"/>
              </a:lnSpc>
              <a:buSzPct val="100000"/>
              <a:buChar char="•"/>
            </a:pPr>
            <a:r>
              <a:rPr lang="en-US" sz="1650" b="1" dirty="0">
                <a:solidFill>
                  <a:srgbClr val="E2E6E9"/>
                </a:solidFill>
                <a:latin typeface="Source Sans 3" pitchFamily="34" charset="0"/>
                <a:ea typeface="Source Sans 3" pitchFamily="34" charset="-122"/>
                <a:cs typeface="Source Sans 3" pitchFamily="34" charset="-120"/>
              </a:rPr>
              <a:t>Python 3.x:</a:t>
            </a:r>
            <a:r>
              <a:rPr lang="en-US" sz="1650" dirty="0">
                <a:solidFill>
                  <a:srgbClr val="E2E6E9"/>
                </a:solidFill>
                <a:latin typeface="Source Sans 3" pitchFamily="34" charset="0"/>
                <a:ea typeface="Source Sans 3" pitchFamily="34" charset="-122"/>
                <a:cs typeface="Source Sans 3" pitchFamily="34" charset="-120"/>
              </a:rPr>
              <a:t> Powers the backend script (esp_script.py) for heavy lifting.</a:t>
            </a:r>
            <a:endParaRPr lang="en-US" sz="1650" dirty="0"/>
          </a:p>
        </p:txBody>
      </p:sp>
      <p:sp>
        <p:nvSpPr>
          <p:cNvPr id="9" name="Text 6"/>
          <p:cNvSpPr/>
          <p:nvPr/>
        </p:nvSpPr>
        <p:spPr>
          <a:xfrm>
            <a:off x="6225421" y="5346144"/>
            <a:ext cx="3575447" cy="949762"/>
          </a:xfrm>
          <a:prstGeom prst="rect">
            <a:avLst/>
          </a:prstGeom>
          <a:noFill/>
          <a:ln/>
        </p:spPr>
        <p:txBody>
          <a:bodyPr wrap="square" lIns="0" tIns="0" rIns="0" bIns="0" rtlCol="0" anchor="t"/>
          <a:lstStyle/>
          <a:p>
            <a:pPr marL="342900" indent="-342900" algn="l">
              <a:lnSpc>
                <a:spcPts val="2450"/>
              </a:lnSpc>
              <a:buSzPct val="100000"/>
              <a:buChar char="•"/>
            </a:pPr>
            <a:r>
              <a:rPr lang="en-US" sz="1650" b="1" dirty="0">
                <a:solidFill>
                  <a:srgbClr val="E2E6E9"/>
                </a:solidFill>
                <a:latin typeface="Source Sans 3" pitchFamily="34" charset="0"/>
                <a:ea typeface="Source Sans 3" pitchFamily="34" charset="-122"/>
                <a:cs typeface="Source Sans 3" pitchFamily="34" charset="-120"/>
              </a:rPr>
              <a:t>MediaPipe:</a:t>
            </a:r>
            <a:r>
              <a:rPr lang="en-US" sz="1650" dirty="0">
                <a:solidFill>
                  <a:srgbClr val="E2E6E9"/>
                </a:solidFill>
                <a:latin typeface="Source Sans 3" pitchFamily="34" charset="0"/>
                <a:ea typeface="Source Sans 3" pitchFamily="34" charset="-122"/>
                <a:cs typeface="Source Sans 3" pitchFamily="34" charset="-120"/>
              </a:rPr>
              <a:t> Google's framework for efficient, real-time hand tracking and landmark detection.</a:t>
            </a:r>
            <a:endParaRPr lang="en-US" sz="1650" dirty="0"/>
          </a:p>
        </p:txBody>
      </p:sp>
      <p:sp>
        <p:nvSpPr>
          <p:cNvPr id="10" name="Text 7"/>
          <p:cNvSpPr/>
          <p:nvPr/>
        </p:nvSpPr>
        <p:spPr>
          <a:xfrm>
            <a:off x="10323552" y="2788087"/>
            <a:ext cx="2653070" cy="299799"/>
          </a:xfrm>
          <a:prstGeom prst="rect">
            <a:avLst/>
          </a:prstGeom>
          <a:noFill/>
          <a:ln/>
        </p:spPr>
        <p:txBody>
          <a:bodyPr wrap="none" lIns="0" tIns="0" rIns="0" bIns="0" rtlCol="0" anchor="t"/>
          <a:lstStyle/>
          <a:p>
            <a:pPr marL="0" indent="0" algn="l">
              <a:lnSpc>
                <a:spcPts val="2350"/>
              </a:lnSpc>
              <a:buNone/>
            </a:pPr>
            <a:r>
              <a:rPr lang="en-US" sz="1850" b="1" dirty="0">
                <a:solidFill>
                  <a:srgbClr val="FFFFFF"/>
                </a:solidFill>
                <a:latin typeface="Montserrat Bold" pitchFamily="34" charset="0"/>
                <a:ea typeface="Montserrat Bold" pitchFamily="34" charset="-122"/>
                <a:cs typeface="Montserrat Bold" pitchFamily="34" charset="-120"/>
              </a:rPr>
              <a:t>Frontend &amp; Database</a:t>
            </a:r>
            <a:endParaRPr lang="en-US" sz="1850" dirty="0"/>
          </a:p>
        </p:txBody>
      </p:sp>
      <p:sp>
        <p:nvSpPr>
          <p:cNvPr id="11" name="Text 8"/>
          <p:cNvSpPr/>
          <p:nvPr/>
        </p:nvSpPr>
        <p:spPr>
          <a:xfrm>
            <a:off x="10323552" y="3298984"/>
            <a:ext cx="3575447" cy="949762"/>
          </a:xfrm>
          <a:prstGeom prst="rect">
            <a:avLst/>
          </a:prstGeom>
          <a:noFill/>
          <a:ln/>
        </p:spPr>
        <p:txBody>
          <a:bodyPr wrap="square" lIns="0" tIns="0" rIns="0" bIns="0" rtlCol="0" anchor="t"/>
          <a:lstStyle/>
          <a:p>
            <a:pPr marL="342900" indent="-342900" algn="l">
              <a:lnSpc>
                <a:spcPts val="2450"/>
              </a:lnSpc>
              <a:buSzPct val="100000"/>
              <a:buChar char="•"/>
            </a:pPr>
            <a:r>
              <a:rPr lang="en-US" sz="1650" b="1" dirty="0">
                <a:solidFill>
                  <a:srgbClr val="E2E6E9"/>
                </a:solidFill>
                <a:latin typeface="Source Sans 3" pitchFamily="34" charset="0"/>
                <a:ea typeface="Source Sans 3" pitchFamily="34" charset="-122"/>
                <a:cs typeface="Source Sans 3" pitchFamily="34" charset="-120"/>
              </a:rPr>
              <a:t>OpenCV:</a:t>
            </a:r>
            <a:r>
              <a:rPr lang="en-US" sz="1650" dirty="0">
                <a:solidFill>
                  <a:srgbClr val="E2E6E9"/>
                </a:solidFill>
                <a:latin typeface="Source Sans 3" pitchFamily="34" charset="0"/>
                <a:ea typeface="Source Sans 3" pitchFamily="34" charset="-122"/>
                <a:cs typeface="Source Sans 3" pitchFamily="34" charset="-120"/>
              </a:rPr>
              <a:t> Essential for image processing, frame manipulation, and HUD overlays.</a:t>
            </a:r>
            <a:endParaRPr lang="en-US" sz="1650" dirty="0"/>
          </a:p>
        </p:txBody>
      </p:sp>
      <p:sp>
        <p:nvSpPr>
          <p:cNvPr id="12" name="Text 9"/>
          <p:cNvSpPr/>
          <p:nvPr/>
        </p:nvSpPr>
        <p:spPr>
          <a:xfrm>
            <a:off x="10323552" y="4322564"/>
            <a:ext cx="3575447" cy="949762"/>
          </a:xfrm>
          <a:prstGeom prst="rect">
            <a:avLst/>
          </a:prstGeom>
          <a:noFill/>
          <a:ln/>
        </p:spPr>
        <p:txBody>
          <a:bodyPr wrap="square" lIns="0" tIns="0" rIns="0" bIns="0" rtlCol="0" anchor="t"/>
          <a:lstStyle/>
          <a:p>
            <a:pPr marL="342900" indent="-342900" algn="l">
              <a:lnSpc>
                <a:spcPts val="2450"/>
              </a:lnSpc>
              <a:buSzPct val="100000"/>
              <a:buChar char="•"/>
            </a:pPr>
            <a:r>
              <a:rPr lang="en-US" sz="1650" b="1" dirty="0">
                <a:solidFill>
                  <a:srgbClr val="E2E6E9"/>
                </a:solidFill>
                <a:latin typeface="Source Sans 3" pitchFamily="34" charset="0"/>
                <a:ea typeface="Source Sans 3" pitchFamily="34" charset="-122"/>
                <a:cs typeface="Source Sans 3" pitchFamily="34" charset="-120"/>
              </a:rPr>
              <a:t>Web Technologies:</a:t>
            </a:r>
            <a:r>
              <a:rPr lang="en-US" sz="1650" dirty="0">
                <a:solidFill>
                  <a:srgbClr val="E2E6E9"/>
                </a:solidFill>
                <a:latin typeface="Source Sans 3" pitchFamily="34" charset="0"/>
                <a:ea typeface="Source Sans 3" pitchFamily="34" charset="-122"/>
                <a:cs typeface="Source Sans 3" pitchFamily="34" charset="-120"/>
              </a:rPr>
              <a:t> HTML5, CSS3 (Cyberpunk aesthetic), and JavaScript for intuitive game logic.</a:t>
            </a:r>
            <a:endParaRPr lang="en-US" sz="1650" dirty="0"/>
          </a:p>
        </p:txBody>
      </p:sp>
      <p:sp>
        <p:nvSpPr>
          <p:cNvPr id="13" name="Text 10"/>
          <p:cNvSpPr/>
          <p:nvPr/>
        </p:nvSpPr>
        <p:spPr>
          <a:xfrm>
            <a:off x="10323552" y="5346144"/>
            <a:ext cx="3575447" cy="949762"/>
          </a:xfrm>
          <a:prstGeom prst="rect">
            <a:avLst/>
          </a:prstGeom>
          <a:noFill/>
          <a:ln/>
        </p:spPr>
        <p:txBody>
          <a:bodyPr wrap="square" lIns="0" tIns="0" rIns="0" bIns="0" rtlCol="0" anchor="t"/>
          <a:lstStyle/>
          <a:p>
            <a:pPr marL="342900" indent="-342900" algn="l">
              <a:lnSpc>
                <a:spcPts val="2450"/>
              </a:lnSpc>
              <a:buSzPct val="100000"/>
              <a:buChar char="•"/>
            </a:pPr>
            <a:r>
              <a:rPr lang="en-US" sz="1650" b="1" dirty="0">
                <a:solidFill>
                  <a:srgbClr val="E2E6E9"/>
                </a:solidFill>
                <a:latin typeface="Source Sans 3" pitchFamily="34" charset="0"/>
                <a:ea typeface="Source Sans 3" pitchFamily="34" charset="-122"/>
                <a:cs typeface="Source Sans 3" pitchFamily="34" charset="-120"/>
              </a:rPr>
              <a:t>Firebase:</a:t>
            </a:r>
            <a:r>
              <a:rPr lang="en-US" sz="1650" dirty="0">
                <a:solidFill>
                  <a:srgbClr val="E2E6E9"/>
                </a:solidFill>
                <a:latin typeface="Source Sans 3" pitchFamily="34" charset="0"/>
                <a:ea typeface="Source Sans 3" pitchFamily="34" charset="-122"/>
                <a:cs typeface="Source Sans 3" pitchFamily="34" charset="-120"/>
              </a:rPr>
              <a:t> Google's cloud database for persistent storage of high scores and security logs.</a:t>
            </a:r>
            <a:endParaRPr lang="en-US" sz="1650" dirty="0"/>
          </a:p>
        </p:txBody>
      </p:sp>
      <p:sp>
        <p:nvSpPr>
          <p:cNvPr id="14" name="Text 11"/>
          <p:cNvSpPr/>
          <p:nvPr/>
        </p:nvSpPr>
        <p:spPr>
          <a:xfrm>
            <a:off x="10323552" y="6369725"/>
            <a:ext cx="3575447" cy="949762"/>
          </a:xfrm>
          <a:prstGeom prst="rect">
            <a:avLst/>
          </a:prstGeom>
          <a:noFill/>
          <a:ln/>
        </p:spPr>
        <p:txBody>
          <a:bodyPr wrap="square" lIns="0" tIns="0" rIns="0" bIns="0" rtlCol="0" anchor="t"/>
          <a:lstStyle/>
          <a:p>
            <a:pPr marL="342900" indent="-342900" algn="l">
              <a:lnSpc>
                <a:spcPts val="2450"/>
              </a:lnSpc>
              <a:buSzPct val="100000"/>
              <a:buChar char="•"/>
            </a:pPr>
            <a:r>
              <a:rPr lang="en-US" sz="1650" b="1" dirty="0">
                <a:solidFill>
                  <a:srgbClr val="E2E6E9"/>
                </a:solidFill>
                <a:latin typeface="Source Sans 3" pitchFamily="34" charset="0"/>
                <a:ea typeface="Source Sans 3" pitchFamily="34" charset="-122"/>
                <a:cs typeface="Source Sans 3" pitchFamily="34" charset="-120"/>
              </a:rPr>
              <a:t>WebSockets:</a:t>
            </a:r>
            <a:r>
              <a:rPr lang="en-US" sz="1650" dirty="0">
                <a:solidFill>
                  <a:srgbClr val="E2E6E9"/>
                </a:solidFill>
                <a:latin typeface="Source Sans 3" pitchFamily="34" charset="0"/>
                <a:ea typeface="Source Sans 3" pitchFamily="34" charset="-122"/>
                <a:cs typeface="Source Sans 3" pitchFamily="34" charset="-120"/>
              </a:rPr>
              <a:t> Enables low-latency communication between Python and the web interface.</a:t>
            </a:r>
            <a:endParaRPr lang="en-US" sz="1650" dirty="0"/>
          </a:p>
        </p:txBody>
      </p:sp>
      <p:sp>
        <p:nvSpPr>
          <p:cNvPr id="15" name="Rectangle 14">
            <a:extLst>
              <a:ext uri="{FF2B5EF4-FFF2-40B4-BE49-F238E27FC236}">
                <a16:creationId xmlns:a16="http://schemas.microsoft.com/office/drawing/2014/main" id="{A9AE51B7-85EC-241A-CA7C-7B1F045FCB6E}"/>
              </a:ext>
            </a:extLst>
          </p:cNvPr>
          <p:cNvSpPr/>
          <p:nvPr/>
        </p:nvSpPr>
        <p:spPr>
          <a:xfrm>
            <a:off x="12861364" y="7739529"/>
            <a:ext cx="1637553" cy="406400"/>
          </a:xfrm>
          <a:prstGeom prst="rect">
            <a:avLst/>
          </a:prstGeom>
          <a:solidFill>
            <a:srgbClr val="1112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Shape 0"/>
          <p:cNvSpPr/>
          <p:nvPr/>
        </p:nvSpPr>
        <p:spPr>
          <a:xfrm>
            <a:off x="863798" y="887016"/>
            <a:ext cx="1211461" cy="444103"/>
          </a:xfrm>
          <a:prstGeom prst="roundRect">
            <a:avLst>
              <a:gd name="adj" fmla="val 6670"/>
            </a:avLst>
          </a:prstGeom>
          <a:solidFill>
            <a:srgbClr val="262626"/>
          </a:solidFill>
          <a:ln/>
        </p:spPr>
      </p:sp>
      <p:sp>
        <p:nvSpPr>
          <p:cNvPr id="3" name="Text 1"/>
          <p:cNvSpPr/>
          <p:nvPr/>
        </p:nvSpPr>
        <p:spPr>
          <a:xfrm>
            <a:off x="1011793" y="960953"/>
            <a:ext cx="915472" cy="296228"/>
          </a:xfrm>
          <a:prstGeom prst="rect">
            <a:avLst/>
          </a:prstGeom>
          <a:noFill/>
          <a:ln/>
        </p:spPr>
        <p:txBody>
          <a:bodyPr wrap="none" lIns="0" tIns="0" rIns="0" bIns="0" rtlCol="0" anchor="t"/>
          <a:lstStyle/>
          <a:p>
            <a:pPr marL="0" indent="0" algn="l">
              <a:lnSpc>
                <a:spcPts val="2300"/>
              </a:lnSpc>
              <a:buNone/>
            </a:pPr>
            <a:r>
              <a:rPr lang="en-US" sz="1550" dirty="0">
                <a:solidFill>
                  <a:srgbClr val="E2E6E9"/>
                </a:solidFill>
                <a:latin typeface="Source Sans 3" pitchFamily="34" charset="0"/>
                <a:ea typeface="Source Sans 3" pitchFamily="34" charset="-122"/>
                <a:cs typeface="Source Sans 3" pitchFamily="34" charset="-120"/>
              </a:rPr>
              <a:t>CHAPTER 6</a:t>
            </a:r>
            <a:endParaRPr lang="en-US" sz="1550" dirty="0"/>
          </a:p>
        </p:txBody>
      </p:sp>
      <p:sp>
        <p:nvSpPr>
          <p:cNvPr id="4" name="Text 2"/>
          <p:cNvSpPr/>
          <p:nvPr/>
        </p:nvSpPr>
        <p:spPr>
          <a:xfrm>
            <a:off x="863798" y="1429822"/>
            <a:ext cx="10161984" cy="560903"/>
          </a:xfrm>
          <a:prstGeom prst="rect">
            <a:avLst/>
          </a:prstGeom>
          <a:noFill/>
          <a:ln/>
        </p:spPr>
        <p:txBody>
          <a:bodyPr wrap="none" lIns="0" tIns="0" rIns="0" bIns="0" rtlCol="0" anchor="t"/>
          <a:lstStyle/>
          <a:p>
            <a:pPr marL="0" indent="0" algn="l">
              <a:lnSpc>
                <a:spcPts val="4400"/>
              </a:lnSpc>
              <a:buNone/>
            </a:pPr>
            <a:r>
              <a:rPr lang="en-US" sz="3500" b="1" dirty="0">
                <a:solidFill>
                  <a:srgbClr val="FFFFFF"/>
                </a:solidFill>
                <a:latin typeface="Montserrat Bold" pitchFamily="34" charset="0"/>
                <a:ea typeface="Montserrat Bold" pitchFamily="34" charset="-122"/>
                <a:cs typeface="Montserrat Bold" pitchFamily="34" charset="-120"/>
              </a:rPr>
              <a:t>Methodology: From Firmware to Command</a:t>
            </a:r>
            <a:endParaRPr lang="en-US" sz="3500" dirty="0"/>
          </a:p>
        </p:txBody>
      </p:sp>
      <p:sp>
        <p:nvSpPr>
          <p:cNvPr id="5" name="Text 3"/>
          <p:cNvSpPr/>
          <p:nvPr/>
        </p:nvSpPr>
        <p:spPr>
          <a:xfrm>
            <a:off x="863798" y="2360890"/>
            <a:ext cx="246817" cy="308491"/>
          </a:xfrm>
          <a:prstGeom prst="rect">
            <a:avLst/>
          </a:prstGeom>
          <a:noFill/>
          <a:ln/>
        </p:spPr>
        <p:txBody>
          <a:bodyPr wrap="none" lIns="0" tIns="0" rIns="0" bIns="0" rtlCol="0" anchor="t"/>
          <a:lstStyle/>
          <a:p>
            <a:pPr marL="0" indent="0" algn="l">
              <a:lnSpc>
                <a:spcPts val="2900"/>
              </a:lnSpc>
              <a:buNone/>
            </a:pPr>
            <a:r>
              <a:rPr lang="en-US" sz="1900" dirty="0">
                <a:solidFill>
                  <a:srgbClr val="E2E6E9"/>
                </a:solidFill>
                <a:latin typeface="Montserrat Light" pitchFamily="34" charset="0"/>
                <a:ea typeface="Montserrat Light" pitchFamily="34" charset="-122"/>
                <a:cs typeface="Montserrat Light" pitchFamily="34" charset="-120"/>
              </a:rPr>
              <a:t>01</a:t>
            </a:r>
            <a:endParaRPr lang="en-US" sz="1900" dirty="0"/>
          </a:p>
        </p:txBody>
      </p:sp>
      <p:sp>
        <p:nvSpPr>
          <p:cNvPr id="6" name="Shape 4"/>
          <p:cNvSpPr/>
          <p:nvPr/>
        </p:nvSpPr>
        <p:spPr>
          <a:xfrm>
            <a:off x="863798" y="2749868"/>
            <a:ext cx="4136350" cy="30480"/>
          </a:xfrm>
          <a:prstGeom prst="rect">
            <a:avLst/>
          </a:prstGeom>
          <a:solidFill>
            <a:srgbClr val="FFFFFF"/>
          </a:solidFill>
          <a:ln/>
        </p:spPr>
      </p:sp>
      <p:sp>
        <p:nvSpPr>
          <p:cNvPr id="7" name="Text 5"/>
          <p:cNvSpPr/>
          <p:nvPr/>
        </p:nvSpPr>
        <p:spPr>
          <a:xfrm>
            <a:off x="863798" y="2934176"/>
            <a:ext cx="3300293"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Firmware Deployment</a:t>
            </a:r>
            <a:endParaRPr lang="en-US" sz="2200" dirty="0"/>
          </a:p>
        </p:txBody>
      </p:sp>
      <p:sp>
        <p:nvSpPr>
          <p:cNvPr id="8" name="Text 6"/>
          <p:cNvSpPr/>
          <p:nvPr/>
        </p:nvSpPr>
        <p:spPr>
          <a:xfrm>
            <a:off x="863798" y="3432810"/>
            <a:ext cx="4136350" cy="1110496"/>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ESP32 connects to Wi-Fi, serving HTML on Port 80 and the raw MJPEG video stream on Port 81.</a:t>
            </a:r>
            <a:endParaRPr lang="en-US" sz="1900" dirty="0"/>
          </a:p>
        </p:txBody>
      </p:sp>
      <p:sp>
        <p:nvSpPr>
          <p:cNvPr id="9" name="Text 7"/>
          <p:cNvSpPr/>
          <p:nvPr/>
        </p:nvSpPr>
        <p:spPr>
          <a:xfrm>
            <a:off x="5246965" y="2360890"/>
            <a:ext cx="246817" cy="308491"/>
          </a:xfrm>
          <a:prstGeom prst="rect">
            <a:avLst/>
          </a:prstGeom>
          <a:noFill/>
          <a:ln/>
        </p:spPr>
        <p:txBody>
          <a:bodyPr wrap="none" lIns="0" tIns="0" rIns="0" bIns="0" rtlCol="0" anchor="t"/>
          <a:lstStyle/>
          <a:p>
            <a:pPr marL="0" indent="0" algn="l">
              <a:lnSpc>
                <a:spcPts val="2900"/>
              </a:lnSpc>
              <a:buNone/>
            </a:pPr>
            <a:r>
              <a:rPr lang="en-US" sz="1900" dirty="0">
                <a:solidFill>
                  <a:srgbClr val="E2E6E9"/>
                </a:solidFill>
                <a:latin typeface="Montserrat Light" pitchFamily="34" charset="0"/>
                <a:ea typeface="Montserrat Light" pitchFamily="34" charset="-122"/>
                <a:cs typeface="Montserrat Light" pitchFamily="34" charset="-120"/>
              </a:rPr>
              <a:t>02</a:t>
            </a:r>
            <a:endParaRPr lang="en-US" sz="1900" dirty="0"/>
          </a:p>
        </p:txBody>
      </p:sp>
      <p:sp>
        <p:nvSpPr>
          <p:cNvPr id="10" name="Shape 8"/>
          <p:cNvSpPr/>
          <p:nvPr/>
        </p:nvSpPr>
        <p:spPr>
          <a:xfrm>
            <a:off x="5246965" y="2749868"/>
            <a:ext cx="4136350" cy="30480"/>
          </a:xfrm>
          <a:prstGeom prst="rect">
            <a:avLst/>
          </a:prstGeom>
          <a:solidFill>
            <a:srgbClr val="FFFFFF"/>
          </a:solidFill>
          <a:ln/>
        </p:spPr>
      </p:sp>
      <p:sp>
        <p:nvSpPr>
          <p:cNvPr id="11" name="Text 9"/>
          <p:cNvSpPr/>
          <p:nvPr/>
        </p:nvSpPr>
        <p:spPr>
          <a:xfrm>
            <a:off x="5246965" y="2934176"/>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Stream Acquisition</a:t>
            </a:r>
            <a:endParaRPr lang="en-US" sz="2200" dirty="0"/>
          </a:p>
        </p:txBody>
      </p:sp>
      <p:sp>
        <p:nvSpPr>
          <p:cNvPr id="12" name="Text 10"/>
          <p:cNvSpPr/>
          <p:nvPr/>
        </p:nvSpPr>
        <p:spPr>
          <a:xfrm>
            <a:off x="5246965" y="3432810"/>
            <a:ext cx="4136350" cy="1110496"/>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The Python script fetches and decodes video frames from the ESP32 using OpenCV.</a:t>
            </a:r>
            <a:endParaRPr lang="en-US" sz="1900" dirty="0"/>
          </a:p>
        </p:txBody>
      </p:sp>
      <p:sp>
        <p:nvSpPr>
          <p:cNvPr id="13" name="Text 11"/>
          <p:cNvSpPr/>
          <p:nvPr/>
        </p:nvSpPr>
        <p:spPr>
          <a:xfrm>
            <a:off x="9630132" y="2360890"/>
            <a:ext cx="246817" cy="308491"/>
          </a:xfrm>
          <a:prstGeom prst="rect">
            <a:avLst/>
          </a:prstGeom>
          <a:noFill/>
          <a:ln/>
        </p:spPr>
        <p:txBody>
          <a:bodyPr wrap="none" lIns="0" tIns="0" rIns="0" bIns="0" rtlCol="0" anchor="t"/>
          <a:lstStyle/>
          <a:p>
            <a:pPr marL="0" indent="0" algn="l">
              <a:lnSpc>
                <a:spcPts val="2900"/>
              </a:lnSpc>
              <a:buNone/>
            </a:pPr>
            <a:r>
              <a:rPr lang="en-US" sz="1900" dirty="0">
                <a:solidFill>
                  <a:srgbClr val="E2E6E9"/>
                </a:solidFill>
                <a:latin typeface="Montserrat Light" pitchFamily="34" charset="0"/>
                <a:ea typeface="Montserrat Light" pitchFamily="34" charset="-122"/>
                <a:cs typeface="Montserrat Light" pitchFamily="34" charset="-120"/>
              </a:rPr>
              <a:t>03</a:t>
            </a:r>
            <a:endParaRPr lang="en-US" sz="1900" dirty="0"/>
          </a:p>
        </p:txBody>
      </p:sp>
      <p:sp>
        <p:nvSpPr>
          <p:cNvPr id="14" name="Shape 12"/>
          <p:cNvSpPr/>
          <p:nvPr/>
        </p:nvSpPr>
        <p:spPr>
          <a:xfrm>
            <a:off x="9630132" y="2749868"/>
            <a:ext cx="4136350" cy="30480"/>
          </a:xfrm>
          <a:prstGeom prst="rect">
            <a:avLst/>
          </a:prstGeom>
          <a:solidFill>
            <a:srgbClr val="FFFFFF"/>
          </a:solidFill>
          <a:ln/>
        </p:spPr>
      </p:sp>
      <p:sp>
        <p:nvSpPr>
          <p:cNvPr id="15" name="Text 13"/>
          <p:cNvSpPr/>
          <p:nvPr/>
        </p:nvSpPr>
        <p:spPr>
          <a:xfrm>
            <a:off x="9630132" y="2934176"/>
            <a:ext cx="2849642"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Gesture Processing</a:t>
            </a:r>
            <a:endParaRPr lang="en-US" sz="2200" dirty="0"/>
          </a:p>
        </p:txBody>
      </p:sp>
      <p:sp>
        <p:nvSpPr>
          <p:cNvPr id="16" name="Text 14"/>
          <p:cNvSpPr/>
          <p:nvPr/>
        </p:nvSpPr>
        <p:spPr>
          <a:xfrm>
            <a:off x="9630132" y="3432810"/>
            <a:ext cx="4136350" cy="1110496"/>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Each frame is analyzed by MediaPipe to extract 21 hand landmarks if a hand is detected.</a:t>
            </a:r>
            <a:endParaRPr lang="en-US" sz="1900" dirty="0"/>
          </a:p>
        </p:txBody>
      </p:sp>
      <p:sp>
        <p:nvSpPr>
          <p:cNvPr id="17" name="Text 15"/>
          <p:cNvSpPr/>
          <p:nvPr/>
        </p:nvSpPr>
        <p:spPr>
          <a:xfrm>
            <a:off x="863798" y="4975146"/>
            <a:ext cx="246817" cy="308491"/>
          </a:xfrm>
          <a:prstGeom prst="rect">
            <a:avLst/>
          </a:prstGeom>
          <a:noFill/>
          <a:ln/>
        </p:spPr>
        <p:txBody>
          <a:bodyPr wrap="none" lIns="0" tIns="0" rIns="0" bIns="0" rtlCol="0" anchor="t"/>
          <a:lstStyle/>
          <a:p>
            <a:pPr marL="0" indent="0" algn="l">
              <a:lnSpc>
                <a:spcPts val="2900"/>
              </a:lnSpc>
              <a:buNone/>
            </a:pPr>
            <a:r>
              <a:rPr lang="en-US" sz="1900" dirty="0">
                <a:solidFill>
                  <a:srgbClr val="E2E6E9"/>
                </a:solidFill>
                <a:latin typeface="Montserrat Light" pitchFamily="34" charset="0"/>
                <a:ea typeface="Montserrat Light" pitchFamily="34" charset="-122"/>
                <a:cs typeface="Montserrat Light" pitchFamily="34" charset="-120"/>
              </a:rPr>
              <a:t>04</a:t>
            </a:r>
            <a:endParaRPr lang="en-US" sz="1900" dirty="0"/>
          </a:p>
        </p:txBody>
      </p:sp>
      <p:sp>
        <p:nvSpPr>
          <p:cNvPr id="18" name="Shape 16"/>
          <p:cNvSpPr/>
          <p:nvPr/>
        </p:nvSpPr>
        <p:spPr>
          <a:xfrm>
            <a:off x="863798" y="5364123"/>
            <a:ext cx="6327934" cy="30480"/>
          </a:xfrm>
          <a:prstGeom prst="rect">
            <a:avLst/>
          </a:prstGeom>
          <a:solidFill>
            <a:srgbClr val="FFFFFF"/>
          </a:solidFill>
          <a:ln/>
        </p:spPr>
      </p:sp>
      <p:sp>
        <p:nvSpPr>
          <p:cNvPr id="19" name="Text 17"/>
          <p:cNvSpPr/>
          <p:nvPr/>
        </p:nvSpPr>
        <p:spPr>
          <a:xfrm>
            <a:off x="863798" y="5548432"/>
            <a:ext cx="2804874"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Logic Calculation</a:t>
            </a:r>
            <a:endParaRPr lang="en-US" sz="2200" dirty="0"/>
          </a:p>
        </p:txBody>
      </p:sp>
      <p:sp>
        <p:nvSpPr>
          <p:cNvPr id="20" name="Text 18"/>
          <p:cNvSpPr/>
          <p:nvPr/>
        </p:nvSpPr>
        <p:spPr>
          <a:xfrm>
            <a:off x="863798" y="6047065"/>
            <a:ext cx="6327934" cy="740331"/>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Hand positions (Snake/Tetris), finger distances (Knob), and extended finger counts (RPS) determine commands.</a:t>
            </a:r>
            <a:endParaRPr lang="en-US" sz="1900" dirty="0"/>
          </a:p>
        </p:txBody>
      </p:sp>
      <p:sp>
        <p:nvSpPr>
          <p:cNvPr id="21" name="Text 19"/>
          <p:cNvSpPr/>
          <p:nvPr/>
        </p:nvSpPr>
        <p:spPr>
          <a:xfrm>
            <a:off x="7438549" y="4975146"/>
            <a:ext cx="246817" cy="308491"/>
          </a:xfrm>
          <a:prstGeom prst="rect">
            <a:avLst/>
          </a:prstGeom>
          <a:noFill/>
          <a:ln/>
        </p:spPr>
        <p:txBody>
          <a:bodyPr wrap="none" lIns="0" tIns="0" rIns="0" bIns="0" rtlCol="0" anchor="t"/>
          <a:lstStyle/>
          <a:p>
            <a:pPr marL="0" indent="0" algn="l">
              <a:lnSpc>
                <a:spcPts val="2900"/>
              </a:lnSpc>
              <a:buNone/>
            </a:pPr>
            <a:r>
              <a:rPr lang="en-US" sz="1900" dirty="0">
                <a:solidFill>
                  <a:srgbClr val="E2E6E9"/>
                </a:solidFill>
                <a:latin typeface="Montserrat Light" pitchFamily="34" charset="0"/>
                <a:ea typeface="Montserrat Light" pitchFamily="34" charset="-122"/>
                <a:cs typeface="Montserrat Light" pitchFamily="34" charset="-120"/>
              </a:rPr>
              <a:t>05</a:t>
            </a:r>
            <a:endParaRPr lang="en-US" sz="1900" dirty="0"/>
          </a:p>
        </p:txBody>
      </p:sp>
      <p:sp>
        <p:nvSpPr>
          <p:cNvPr id="22" name="Shape 20"/>
          <p:cNvSpPr/>
          <p:nvPr/>
        </p:nvSpPr>
        <p:spPr>
          <a:xfrm>
            <a:off x="7438549" y="5364123"/>
            <a:ext cx="6327934" cy="30480"/>
          </a:xfrm>
          <a:prstGeom prst="rect">
            <a:avLst/>
          </a:prstGeom>
          <a:solidFill>
            <a:srgbClr val="FFFFFF"/>
          </a:solidFill>
          <a:ln/>
        </p:spPr>
      </p:sp>
      <p:sp>
        <p:nvSpPr>
          <p:cNvPr id="23" name="Text 21"/>
          <p:cNvSpPr/>
          <p:nvPr/>
        </p:nvSpPr>
        <p:spPr>
          <a:xfrm>
            <a:off x="7438549" y="5548432"/>
            <a:ext cx="3544491" cy="350639"/>
          </a:xfrm>
          <a:prstGeom prst="rect">
            <a:avLst/>
          </a:prstGeom>
          <a:noFill/>
          <a:ln/>
        </p:spPr>
        <p:txBody>
          <a:bodyPr wrap="none" lIns="0" tIns="0" rIns="0" bIns="0" rtlCol="0" anchor="t"/>
          <a:lstStyle/>
          <a:p>
            <a:pPr marL="0" indent="0" algn="l">
              <a:lnSpc>
                <a:spcPts val="2750"/>
              </a:lnSpc>
              <a:buNone/>
            </a:pPr>
            <a:r>
              <a:rPr lang="en-US" sz="2200" b="1" dirty="0">
                <a:solidFill>
                  <a:srgbClr val="E2E6E9"/>
                </a:solidFill>
                <a:latin typeface="Montserrat Bold" pitchFamily="34" charset="0"/>
                <a:ea typeface="Montserrat Bold" pitchFamily="34" charset="-122"/>
                <a:cs typeface="Montserrat Bold" pitchFamily="34" charset="-120"/>
              </a:rPr>
              <a:t>Command Transmission</a:t>
            </a:r>
            <a:endParaRPr lang="en-US" sz="2200" dirty="0"/>
          </a:p>
        </p:txBody>
      </p:sp>
      <p:sp>
        <p:nvSpPr>
          <p:cNvPr id="24" name="Text 22"/>
          <p:cNvSpPr/>
          <p:nvPr/>
        </p:nvSpPr>
        <p:spPr>
          <a:xfrm>
            <a:off x="7438549" y="6047065"/>
            <a:ext cx="6327934" cy="1110496"/>
          </a:xfrm>
          <a:prstGeom prst="rect">
            <a:avLst/>
          </a:prstGeom>
          <a:noFill/>
          <a:ln/>
        </p:spPr>
        <p:txBody>
          <a:bodyPr wrap="square" lIns="0" tIns="0" rIns="0" bIns="0" rtlCol="0" anchor="t"/>
          <a:lstStyle/>
          <a:p>
            <a:pPr marL="0" indent="0" algn="l">
              <a:lnSpc>
                <a:spcPts val="2900"/>
              </a:lnSpc>
              <a:buNone/>
            </a:pPr>
            <a:r>
              <a:rPr lang="en-US" sz="1900" dirty="0">
                <a:solidFill>
                  <a:srgbClr val="E2E6E9"/>
                </a:solidFill>
                <a:latin typeface="Source Sans 3" pitchFamily="34" charset="0"/>
                <a:ea typeface="Source Sans 3" pitchFamily="34" charset="-122"/>
                <a:cs typeface="Source Sans 3" pitchFamily="34" charset="-120"/>
              </a:rPr>
              <a:t>Game commands are sent via WebSocket to the browser, while hardware commands use UDP to the ESP32 for minimal latency.</a:t>
            </a:r>
            <a:endParaRPr lang="en-US" sz="1900" dirty="0"/>
          </a:p>
        </p:txBody>
      </p:sp>
      <p:sp>
        <p:nvSpPr>
          <p:cNvPr id="25" name="Rectangle 24">
            <a:extLst>
              <a:ext uri="{FF2B5EF4-FFF2-40B4-BE49-F238E27FC236}">
                <a16:creationId xmlns:a16="http://schemas.microsoft.com/office/drawing/2014/main" id="{258D209E-459C-1723-2644-750F61B982A7}"/>
              </a:ext>
            </a:extLst>
          </p:cNvPr>
          <p:cNvSpPr/>
          <p:nvPr/>
        </p:nvSpPr>
        <p:spPr>
          <a:xfrm>
            <a:off x="12861364" y="7739529"/>
            <a:ext cx="1637553" cy="406400"/>
          </a:xfrm>
          <a:prstGeom prst="rect">
            <a:avLst/>
          </a:prstGeom>
          <a:solidFill>
            <a:srgbClr val="1112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Shape 0"/>
          <p:cNvSpPr/>
          <p:nvPr/>
        </p:nvSpPr>
        <p:spPr>
          <a:xfrm>
            <a:off x="640318" y="803196"/>
            <a:ext cx="897612" cy="329208"/>
          </a:xfrm>
          <a:prstGeom prst="roundRect">
            <a:avLst>
              <a:gd name="adj" fmla="val 6669"/>
            </a:avLst>
          </a:prstGeom>
          <a:solidFill>
            <a:srgbClr val="262626"/>
          </a:solidFill>
          <a:ln/>
        </p:spPr>
      </p:sp>
      <p:sp>
        <p:nvSpPr>
          <p:cNvPr id="3" name="Text 1"/>
          <p:cNvSpPr/>
          <p:nvPr/>
        </p:nvSpPr>
        <p:spPr>
          <a:xfrm>
            <a:off x="750094" y="858083"/>
            <a:ext cx="678061" cy="219432"/>
          </a:xfrm>
          <a:prstGeom prst="rect">
            <a:avLst/>
          </a:prstGeom>
          <a:noFill/>
          <a:ln/>
        </p:spPr>
        <p:txBody>
          <a:bodyPr wrap="none" lIns="0" tIns="0" rIns="0" bIns="0" rtlCol="0" anchor="t"/>
          <a:lstStyle/>
          <a:p>
            <a:pPr marL="0" indent="0" algn="l">
              <a:lnSpc>
                <a:spcPts val="1700"/>
              </a:lnSpc>
              <a:buNone/>
            </a:pPr>
            <a:r>
              <a:rPr lang="en-US" sz="1150" dirty="0">
                <a:solidFill>
                  <a:srgbClr val="E2E6E9"/>
                </a:solidFill>
                <a:latin typeface="Source Sans 3" pitchFamily="34" charset="0"/>
                <a:ea typeface="Source Sans 3" pitchFamily="34" charset="-122"/>
                <a:cs typeface="Source Sans 3" pitchFamily="34" charset="-120"/>
              </a:rPr>
              <a:t>CHAPTER 7</a:t>
            </a:r>
            <a:endParaRPr lang="en-US" sz="1150" dirty="0"/>
          </a:p>
        </p:txBody>
      </p:sp>
      <p:sp>
        <p:nvSpPr>
          <p:cNvPr id="4" name="Text 2"/>
          <p:cNvSpPr/>
          <p:nvPr/>
        </p:nvSpPr>
        <p:spPr>
          <a:xfrm>
            <a:off x="640318" y="1205508"/>
            <a:ext cx="7525822" cy="415766"/>
          </a:xfrm>
          <a:prstGeom prst="rect">
            <a:avLst/>
          </a:prstGeom>
          <a:noFill/>
          <a:ln/>
        </p:spPr>
        <p:txBody>
          <a:bodyPr wrap="none" lIns="0" tIns="0" rIns="0" bIns="0" rtlCol="0" anchor="t"/>
          <a:lstStyle/>
          <a:p>
            <a:pPr marL="0" indent="0" algn="l">
              <a:lnSpc>
                <a:spcPts val="3250"/>
              </a:lnSpc>
              <a:buNone/>
            </a:pPr>
            <a:r>
              <a:rPr lang="en-US" sz="2600" b="1" dirty="0">
                <a:solidFill>
                  <a:srgbClr val="FFFFFF"/>
                </a:solidFill>
                <a:latin typeface="Montserrat Bold" pitchFamily="34" charset="0"/>
                <a:ea typeface="Montserrat Bold" pitchFamily="34" charset="-122"/>
                <a:cs typeface="Montserrat Bold" pitchFamily="34" charset="-120"/>
              </a:rPr>
              <a:t>VisualSense in Action: Diverse Applications</a:t>
            </a:r>
            <a:endParaRPr lang="en-US" sz="2600" dirty="0"/>
          </a:p>
        </p:txBody>
      </p:sp>
      <p:pic>
        <p:nvPicPr>
          <p:cNvPr id="5" name="Image 0" descr="preencoded.png"/>
          <p:cNvPicPr>
            <a:picLocks noChangeAspect="1"/>
          </p:cNvPicPr>
          <p:nvPr/>
        </p:nvPicPr>
        <p:blipFill>
          <a:blip r:embed="rId3"/>
          <a:stretch>
            <a:fillRect/>
          </a:stretch>
        </p:blipFill>
        <p:spPr>
          <a:xfrm>
            <a:off x="647938" y="2015014"/>
            <a:ext cx="3223855" cy="2195513"/>
          </a:xfrm>
          <a:prstGeom prst="rect">
            <a:avLst/>
          </a:prstGeom>
        </p:spPr>
      </p:pic>
      <p:pic>
        <p:nvPicPr>
          <p:cNvPr id="6" name="Image 1" descr="preencoded.png"/>
          <p:cNvPicPr>
            <a:picLocks noChangeAspect="1"/>
          </p:cNvPicPr>
          <p:nvPr/>
        </p:nvPicPr>
        <p:blipFill>
          <a:blip r:embed="rId4"/>
          <a:stretch>
            <a:fillRect/>
          </a:stretch>
        </p:blipFill>
        <p:spPr>
          <a:xfrm>
            <a:off x="4018121" y="2015014"/>
            <a:ext cx="3223855" cy="2195513"/>
          </a:xfrm>
          <a:prstGeom prst="rect">
            <a:avLst/>
          </a:prstGeom>
        </p:spPr>
      </p:pic>
      <p:pic>
        <p:nvPicPr>
          <p:cNvPr id="7" name="Image 2" descr="preencoded.png"/>
          <p:cNvPicPr>
            <a:picLocks noChangeAspect="1"/>
          </p:cNvPicPr>
          <p:nvPr/>
        </p:nvPicPr>
        <p:blipFill>
          <a:blip r:embed="rId5"/>
          <a:stretch>
            <a:fillRect/>
          </a:stretch>
        </p:blipFill>
        <p:spPr>
          <a:xfrm>
            <a:off x="7388304" y="2015014"/>
            <a:ext cx="3223855" cy="2195513"/>
          </a:xfrm>
          <a:prstGeom prst="rect">
            <a:avLst/>
          </a:prstGeom>
        </p:spPr>
      </p:pic>
      <p:pic>
        <p:nvPicPr>
          <p:cNvPr id="8" name="Image 3" descr="preencoded.png"/>
          <p:cNvPicPr>
            <a:picLocks noChangeAspect="1"/>
          </p:cNvPicPr>
          <p:nvPr/>
        </p:nvPicPr>
        <p:blipFill>
          <a:blip r:embed="rId6"/>
          <a:stretch>
            <a:fillRect/>
          </a:stretch>
        </p:blipFill>
        <p:spPr>
          <a:xfrm>
            <a:off x="10758488" y="2015014"/>
            <a:ext cx="3223855" cy="2195513"/>
          </a:xfrm>
          <a:prstGeom prst="rect">
            <a:avLst/>
          </a:prstGeom>
        </p:spPr>
      </p:pic>
      <p:pic>
        <p:nvPicPr>
          <p:cNvPr id="9" name="Image 4" descr="preencoded.png"/>
          <p:cNvPicPr>
            <a:picLocks noChangeAspect="1"/>
          </p:cNvPicPr>
          <p:nvPr/>
        </p:nvPicPr>
        <p:blipFill>
          <a:blip r:embed="rId7"/>
          <a:stretch>
            <a:fillRect/>
          </a:stretch>
        </p:blipFill>
        <p:spPr>
          <a:xfrm>
            <a:off x="647938" y="4356854"/>
            <a:ext cx="6594158" cy="2195513"/>
          </a:xfrm>
          <a:prstGeom prst="rect">
            <a:avLst/>
          </a:prstGeom>
        </p:spPr>
      </p:pic>
      <p:pic>
        <p:nvPicPr>
          <p:cNvPr id="10" name="Image 5" descr="preencoded.png"/>
          <p:cNvPicPr>
            <a:picLocks noChangeAspect="1"/>
          </p:cNvPicPr>
          <p:nvPr/>
        </p:nvPicPr>
        <p:blipFill>
          <a:blip r:embed="rId8"/>
          <a:stretch>
            <a:fillRect/>
          </a:stretch>
        </p:blipFill>
        <p:spPr>
          <a:xfrm>
            <a:off x="7388423" y="4356854"/>
            <a:ext cx="6594158" cy="2195513"/>
          </a:xfrm>
          <a:prstGeom prst="rect">
            <a:avLst/>
          </a:prstGeom>
        </p:spPr>
      </p:pic>
      <p:sp>
        <p:nvSpPr>
          <p:cNvPr id="11" name="Text 3"/>
          <p:cNvSpPr/>
          <p:nvPr/>
        </p:nvSpPr>
        <p:spPr>
          <a:xfrm>
            <a:off x="640318" y="6877407"/>
            <a:ext cx="13349764" cy="548878"/>
          </a:xfrm>
          <a:prstGeom prst="rect">
            <a:avLst/>
          </a:prstGeom>
          <a:noFill/>
          <a:ln/>
        </p:spPr>
        <p:txBody>
          <a:bodyPr wrap="square" lIns="0" tIns="0" rIns="0" bIns="0" rtlCol="0" anchor="t"/>
          <a:lstStyle/>
          <a:p>
            <a:pPr marL="0" indent="0" algn="l">
              <a:lnSpc>
                <a:spcPts val="2150"/>
              </a:lnSpc>
              <a:buNone/>
            </a:pPr>
            <a:r>
              <a:rPr lang="en-US" sz="1400" dirty="0">
                <a:solidFill>
                  <a:srgbClr val="E2E6E9"/>
                </a:solidFill>
                <a:latin typeface="Source Sans 3" pitchFamily="34" charset="0"/>
                <a:ea typeface="Source Sans 3" pitchFamily="34" charset="-122"/>
                <a:cs typeface="Source Sans 3" pitchFamily="34" charset="-120"/>
              </a:rPr>
              <a:t>From classic games like Snake and Tetris to practical applications like smart home control and security, VisualSense offers a wide array of interactive modes, all powered by intuitive hand gestures.</a:t>
            </a:r>
            <a:endParaRPr lang="en-US" sz="1400" dirty="0"/>
          </a:p>
        </p:txBody>
      </p:sp>
      <p:sp>
        <p:nvSpPr>
          <p:cNvPr id="12" name="Rectangle 11">
            <a:extLst>
              <a:ext uri="{FF2B5EF4-FFF2-40B4-BE49-F238E27FC236}">
                <a16:creationId xmlns:a16="http://schemas.microsoft.com/office/drawing/2014/main" id="{2FF9D709-FBD4-D1E1-80F6-8EE3886FD4CB}"/>
              </a:ext>
            </a:extLst>
          </p:cNvPr>
          <p:cNvSpPr/>
          <p:nvPr/>
        </p:nvSpPr>
        <p:spPr>
          <a:xfrm>
            <a:off x="12861364" y="7739529"/>
            <a:ext cx="1637553" cy="406400"/>
          </a:xfrm>
          <a:prstGeom prst="rect">
            <a:avLst/>
          </a:prstGeom>
          <a:solidFill>
            <a:srgbClr val="1112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29600"/>
          </a:xfrm>
          <a:prstGeom prst="rect">
            <a:avLst/>
          </a:prstGeom>
        </p:spPr>
      </p:pic>
      <p:sp>
        <p:nvSpPr>
          <p:cNvPr id="3" name="Shape 0"/>
          <p:cNvSpPr/>
          <p:nvPr/>
        </p:nvSpPr>
        <p:spPr>
          <a:xfrm>
            <a:off x="6134576" y="718185"/>
            <a:ext cx="909042" cy="333137"/>
          </a:xfrm>
          <a:prstGeom prst="roundRect">
            <a:avLst>
              <a:gd name="adj" fmla="val 6672"/>
            </a:avLst>
          </a:prstGeom>
          <a:solidFill>
            <a:srgbClr val="262626"/>
          </a:solidFill>
          <a:ln/>
        </p:spPr>
      </p:sp>
      <p:sp>
        <p:nvSpPr>
          <p:cNvPr id="4" name="Text 1"/>
          <p:cNvSpPr/>
          <p:nvPr/>
        </p:nvSpPr>
        <p:spPr>
          <a:xfrm>
            <a:off x="6245662" y="773668"/>
            <a:ext cx="686872" cy="222171"/>
          </a:xfrm>
          <a:prstGeom prst="rect">
            <a:avLst/>
          </a:prstGeom>
          <a:noFill/>
          <a:ln/>
        </p:spPr>
        <p:txBody>
          <a:bodyPr wrap="none" lIns="0" tIns="0" rIns="0" bIns="0" rtlCol="0" anchor="t"/>
          <a:lstStyle/>
          <a:p>
            <a:pPr marL="0" indent="0" algn="l">
              <a:lnSpc>
                <a:spcPts val="1750"/>
              </a:lnSpc>
              <a:buNone/>
            </a:pPr>
            <a:r>
              <a:rPr lang="en-US" sz="1150" dirty="0">
                <a:solidFill>
                  <a:srgbClr val="E2E6E9"/>
                </a:solidFill>
                <a:latin typeface="Source Sans 3" pitchFamily="34" charset="0"/>
                <a:ea typeface="Source Sans 3" pitchFamily="34" charset="-122"/>
                <a:cs typeface="Source Sans 3" pitchFamily="34" charset="-120"/>
              </a:rPr>
              <a:t>CHAPTER 8</a:t>
            </a:r>
            <a:endParaRPr lang="en-US" sz="1150" dirty="0"/>
          </a:p>
        </p:txBody>
      </p:sp>
      <p:sp>
        <p:nvSpPr>
          <p:cNvPr id="5" name="Text 2"/>
          <p:cNvSpPr/>
          <p:nvPr/>
        </p:nvSpPr>
        <p:spPr>
          <a:xfrm>
            <a:off x="6134576" y="1125379"/>
            <a:ext cx="7795855" cy="420886"/>
          </a:xfrm>
          <a:prstGeom prst="rect">
            <a:avLst/>
          </a:prstGeom>
          <a:noFill/>
          <a:ln/>
        </p:spPr>
        <p:txBody>
          <a:bodyPr wrap="none" lIns="0" tIns="0" rIns="0" bIns="0" rtlCol="0" anchor="t"/>
          <a:lstStyle/>
          <a:p>
            <a:pPr marL="0" indent="0" algn="l">
              <a:lnSpc>
                <a:spcPts val="3300"/>
              </a:lnSpc>
              <a:buNone/>
            </a:pPr>
            <a:r>
              <a:rPr lang="en-US" sz="2650" b="1" dirty="0">
                <a:solidFill>
                  <a:srgbClr val="FFFFFF"/>
                </a:solidFill>
                <a:latin typeface="Montserrat Bold" pitchFamily="34" charset="0"/>
                <a:ea typeface="Montserrat Bold" pitchFamily="34" charset="-122"/>
                <a:cs typeface="Montserrat Bold" pitchFamily="34" charset="-120"/>
              </a:rPr>
              <a:t>Key Achievements and Robust Performance</a:t>
            </a:r>
            <a:endParaRPr lang="en-US" sz="2650" dirty="0"/>
          </a:p>
        </p:txBody>
      </p:sp>
      <p:sp>
        <p:nvSpPr>
          <p:cNvPr id="6" name="Shape 3"/>
          <p:cNvSpPr/>
          <p:nvPr/>
        </p:nvSpPr>
        <p:spPr>
          <a:xfrm>
            <a:off x="6134576" y="1824038"/>
            <a:ext cx="7847648" cy="4923234"/>
          </a:xfrm>
          <a:prstGeom prst="roundRect">
            <a:avLst>
              <a:gd name="adj" fmla="val 564"/>
            </a:avLst>
          </a:prstGeom>
          <a:solidFill>
            <a:srgbClr val="303132"/>
          </a:solidFill>
          <a:ln/>
        </p:spPr>
      </p:sp>
      <p:sp>
        <p:nvSpPr>
          <p:cNvPr id="7" name="Shape 4"/>
          <p:cNvSpPr/>
          <p:nvPr/>
        </p:nvSpPr>
        <p:spPr>
          <a:xfrm>
            <a:off x="6134576" y="1824038"/>
            <a:ext cx="7847648" cy="1300282"/>
          </a:xfrm>
          <a:prstGeom prst="roundRect">
            <a:avLst>
              <a:gd name="adj" fmla="val 2137"/>
            </a:avLst>
          </a:prstGeom>
          <a:solidFill>
            <a:srgbClr val="303132"/>
          </a:solidFill>
          <a:ln/>
        </p:spPr>
      </p:sp>
      <p:sp>
        <p:nvSpPr>
          <p:cNvPr id="8" name="Text 5"/>
          <p:cNvSpPr/>
          <p:nvPr/>
        </p:nvSpPr>
        <p:spPr>
          <a:xfrm>
            <a:off x="6319718" y="2009180"/>
            <a:ext cx="2735461" cy="263128"/>
          </a:xfrm>
          <a:prstGeom prst="rect">
            <a:avLst/>
          </a:prstGeom>
          <a:noFill/>
          <a:ln/>
        </p:spPr>
        <p:txBody>
          <a:bodyPr wrap="none" lIns="0" tIns="0" rIns="0" bIns="0" rtlCol="0" anchor="t"/>
          <a:lstStyle/>
          <a:p>
            <a:pPr marL="0" indent="0" algn="l">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Eight Operational Modes</a:t>
            </a:r>
            <a:endParaRPr lang="en-US" sz="1650" dirty="0"/>
          </a:p>
        </p:txBody>
      </p:sp>
      <p:sp>
        <p:nvSpPr>
          <p:cNvPr id="9" name="Text 6"/>
          <p:cNvSpPr/>
          <p:nvPr/>
        </p:nvSpPr>
        <p:spPr>
          <a:xfrm>
            <a:off x="6319718" y="2383393"/>
            <a:ext cx="7477363" cy="555784"/>
          </a:xfrm>
          <a:prstGeom prst="rect">
            <a:avLst/>
          </a:prstGeom>
          <a:noFill/>
          <a:ln/>
        </p:spPr>
        <p:txBody>
          <a:bodyPr wrap="square" lIns="0" tIns="0" rIns="0" bIns="0" rtlCol="0" anchor="t"/>
          <a:lstStyle/>
          <a:p>
            <a:pPr marL="0" indent="0" algn="l">
              <a:lnSpc>
                <a:spcPts val="2150"/>
              </a:lnSpc>
              <a:buNone/>
            </a:pPr>
            <a:r>
              <a:rPr lang="en-US" sz="1450" dirty="0">
                <a:solidFill>
                  <a:srgbClr val="E2E6E9"/>
                </a:solidFill>
                <a:latin typeface="Source Sans 3" pitchFamily="34" charset="0"/>
                <a:ea typeface="Source Sans 3" pitchFamily="34" charset="-122"/>
                <a:cs typeface="Source Sans 3" pitchFamily="34" charset="-120"/>
              </a:rPr>
              <a:t>Successfully integrated diverse functionalities, proving versatility for both entertainment and automation.</a:t>
            </a:r>
            <a:endParaRPr lang="en-US" sz="1450" dirty="0"/>
          </a:p>
        </p:txBody>
      </p:sp>
      <p:sp>
        <p:nvSpPr>
          <p:cNvPr id="10" name="Shape 7"/>
          <p:cNvSpPr/>
          <p:nvPr/>
        </p:nvSpPr>
        <p:spPr>
          <a:xfrm>
            <a:off x="6134576" y="3124319"/>
            <a:ext cx="7847648" cy="1022390"/>
          </a:xfrm>
          <a:prstGeom prst="rect">
            <a:avLst/>
          </a:prstGeom>
          <a:solidFill>
            <a:srgbClr val="303132"/>
          </a:solidFill>
          <a:ln/>
        </p:spPr>
      </p:sp>
      <p:sp>
        <p:nvSpPr>
          <p:cNvPr id="11" name="Shape 8"/>
          <p:cNvSpPr/>
          <p:nvPr/>
        </p:nvSpPr>
        <p:spPr>
          <a:xfrm>
            <a:off x="6134576" y="3124319"/>
            <a:ext cx="7847648" cy="22860"/>
          </a:xfrm>
          <a:prstGeom prst="roundRect">
            <a:avLst>
              <a:gd name="adj" fmla="val 121532"/>
            </a:avLst>
          </a:prstGeom>
          <a:solidFill>
            <a:srgbClr val="494A4B"/>
          </a:solidFill>
          <a:ln/>
        </p:spPr>
      </p:sp>
      <p:sp>
        <p:nvSpPr>
          <p:cNvPr id="12" name="Text 9"/>
          <p:cNvSpPr/>
          <p:nvPr/>
        </p:nvSpPr>
        <p:spPr>
          <a:xfrm>
            <a:off x="6319718" y="3309461"/>
            <a:ext cx="2223016" cy="263128"/>
          </a:xfrm>
          <a:prstGeom prst="rect">
            <a:avLst/>
          </a:prstGeom>
          <a:noFill/>
          <a:ln/>
        </p:spPr>
        <p:txBody>
          <a:bodyPr wrap="none" lIns="0" tIns="0" rIns="0" bIns="0" rtlCol="0" anchor="t"/>
          <a:lstStyle/>
          <a:p>
            <a:pPr marL="0" indent="0" algn="l">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Suitable Frame Rate</a:t>
            </a:r>
            <a:endParaRPr lang="en-US" sz="1650" dirty="0"/>
          </a:p>
        </p:txBody>
      </p:sp>
      <p:sp>
        <p:nvSpPr>
          <p:cNvPr id="13" name="Text 10"/>
          <p:cNvSpPr/>
          <p:nvPr/>
        </p:nvSpPr>
        <p:spPr>
          <a:xfrm>
            <a:off x="6319718" y="3683675"/>
            <a:ext cx="7477363" cy="277892"/>
          </a:xfrm>
          <a:prstGeom prst="rect">
            <a:avLst/>
          </a:prstGeom>
          <a:noFill/>
          <a:ln/>
        </p:spPr>
        <p:txBody>
          <a:bodyPr wrap="none" lIns="0" tIns="0" rIns="0" bIns="0" rtlCol="0" anchor="t"/>
          <a:lstStyle/>
          <a:p>
            <a:pPr marL="0" indent="0" algn="l">
              <a:lnSpc>
                <a:spcPts val="2150"/>
              </a:lnSpc>
              <a:buNone/>
            </a:pPr>
            <a:r>
              <a:rPr lang="en-US" sz="1450" dirty="0">
                <a:solidFill>
                  <a:srgbClr val="E2E6E9"/>
                </a:solidFill>
                <a:latin typeface="Source Sans 3" pitchFamily="34" charset="0"/>
                <a:ea typeface="Source Sans 3" pitchFamily="34" charset="-122"/>
                <a:cs typeface="Source Sans 3" pitchFamily="34" charset="-120"/>
              </a:rPr>
              <a:t>Achieved responsive interaction for casual gaming and precise hardware control.</a:t>
            </a:r>
            <a:endParaRPr lang="en-US" sz="1450" dirty="0"/>
          </a:p>
        </p:txBody>
      </p:sp>
      <p:sp>
        <p:nvSpPr>
          <p:cNvPr id="14" name="Shape 11"/>
          <p:cNvSpPr/>
          <p:nvPr/>
        </p:nvSpPr>
        <p:spPr>
          <a:xfrm>
            <a:off x="6134576" y="4146709"/>
            <a:ext cx="7847648" cy="1300282"/>
          </a:xfrm>
          <a:prstGeom prst="rect">
            <a:avLst/>
          </a:prstGeom>
          <a:solidFill>
            <a:srgbClr val="303132"/>
          </a:solidFill>
          <a:ln/>
        </p:spPr>
      </p:sp>
      <p:sp>
        <p:nvSpPr>
          <p:cNvPr id="15" name="Shape 12"/>
          <p:cNvSpPr/>
          <p:nvPr/>
        </p:nvSpPr>
        <p:spPr>
          <a:xfrm>
            <a:off x="6134576" y="4146709"/>
            <a:ext cx="7847648" cy="22860"/>
          </a:xfrm>
          <a:prstGeom prst="roundRect">
            <a:avLst>
              <a:gd name="adj" fmla="val 121532"/>
            </a:avLst>
          </a:prstGeom>
          <a:solidFill>
            <a:srgbClr val="494A4B"/>
          </a:solidFill>
          <a:ln/>
        </p:spPr>
      </p:sp>
      <p:sp>
        <p:nvSpPr>
          <p:cNvPr id="16" name="Text 13"/>
          <p:cNvSpPr/>
          <p:nvPr/>
        </p:nvSpPr>
        <p:spPr>
          <a:xfrm>
            <a:off x="6319718" y="4331851"/>
            <a:ext cx="2464713" cy="263128"/>
          </a:xfrm>
          <a:prstGeom prst="rect">
            <a:avLst/>
          </a:prstGeom>
          <a:noFill/>
          <a:ln/>
        </p:spPr>
        <p:txBody>
          <a:bodyPr wrap="none" lIns="0" tIns="0" rIns="0" bIns="0" rtlCol="0" anchor="t"/>
          <a:lstStyle/>
          <a:p>
            <a:pPr marL="0" indent="0" algn="l">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Smooth LED Dimming</a:t>
            </a:r>
            <a:endParaRPr lang="en-US" sz="1650" dirty="0"/>
          </a:p>
        </p:txBody>
      </p:sp>
      <p:sp>
        <p:nvSpPr>
          <p:cNvPr id="17" name="Text 14"/>
          <p:cNvSpPr/>
          <p:nvPr/>
        </p:nvSpPr>
        <p:spPr>
          <a:xfrm>
            <a:off x="6319718" y="4706064"/>
            <a:ext cx="7477363" cy="555784"/>
          </a:xfrm>
          <a:prstGeom prst="rect">
            <a:avLst/>
          </a:prstGeom>
          <a:noFill/>
          <a:ln/>
        </p:spPr>
        <p:txBody>
          <a:bodyPr wrap="square" lIns="0" tIns="0" rIns="0" bIns="0" rtlCol="0" anchor="t"/>
          <a:lstStyle/>
          <a:p>
            <a:pPr marL="0" indent="0" algn="l">
              <a:lnSpc>
                <a:spcPts val="2150"/>
              </a:lnSpc>
              <a:buNone/>
            </a:pPr>
            <a:r>
              <a:rPr lang="en-US" sz="1450" dirty="0">
                <a:solidFill>
                  <a:srgbClr val="E2E6E9"/>
                </a:solidFill>
                <a:latin typeface="Source Sans 3" pitchFamily="34" charset="0"/>
                <a:ea typeface="Source Sans 3" pitchFamily="34" charset="-122"/>
                <a:cs typeface="Source Sans 3" pitchFamily="34" charset="-120"/>
              </a:rPr>
              <a:t>The "Knob" mode showcases effective gesture-based PWM control with a custom smoothing algorithm.</a:t>
            </a:r>
            <a:endParaRPr lang="en-US" sz="1450" dirty="0"/>
          </a:p>
        </p:txBody>
      </p:sp>
      <p:sp>
        <p:nvSpPr>
          <p:cNvPr id="18" name="Shape 15"/>
          <p:cNvSpPr/>
          <p:nvPr/>
        </p:nvSpPr>
        <p:spPr>
          <a:xfrm>
            <a:off x="6134576" y="5446990"/>
            <a:ext cx="7847648" cy="1300282"/>
          </a:xfrm>
          <a:prstGeom prst="rect">
            <a:avLst/>
          </a:prstGeom>
          <a:solidFill>
            <a:srgbClr val="303132"/>
          </a:solidFill>
          <a:ln/>
        </p:spPr>
      </p:sp>
      <p:sp>
        <p:nvSpPr>
          <p:cNvPr id="19" name="Shape 16"/>
          <p:cNvSpPr/>
          <p:nvPr/>
        </p:nvSpPr>
        <p:spPr>
          <a:xfrm>
            <a:off x="6134576" y="5446990"/>
            <a:ext cx="7847648" cy="22860"/>
          </a:xfrm>
          <a:prstGeom prst="roundRect">
            <a:avLst>
              <a:gd name="adj" fmla="val 121532"/>
            </a:avLst>
          </a:prstGeom>
          <a:solidFill>
            <a:srgbClr val="494A4B"/>
          </a:solidFill>
          <a:ln/>
        </p:spPr>
      </p:sp>
      <p:sp>
        <p:nvSpPr>
          <p:cNvPr id="20" name="Text 17"/>
          <p:cNvSpPr/>
          <p:nvPr/>
        </p:nvSpPr>
        <p:spPr>
          <a:xfrm>
            <a:off x="6319718" y="5632133"/>
            <a:ext cx="2229088" cy="263128"/>
          </a:xfrm>
          <a:prstGeom prst="rect">
            <a:avLst/>
          </a:prstGeom>
          <a:noFill/>
          <a:ln/>
        </p:spPr>
        <p:txBody>
          <a:bodyPr wrap="none" lIns="0" tIns="0" rIns="0" bIns="0" rtlCol="0" anchor="t"/>
          <a:lstStyle/>
          <a:p>
            <a:pPr marL="0" indent="0" algn="l">
              <a:lnSpc>
                <a:spcPts val="2050"/>
              </a:lnSpc>
              <a:buNone/>
            </a:pPr>
            <a:r>
              <a:rPr lang="en-US" sz="1650" b="1" dirty="0">
                <a:solidFill>
                  <a:srgbClr val="E2E6E9"/>
                </a:solidFill>
                <a:latin typeface="Montserrat Bold" pitchFamily="34" charset="0"/>
                <a:ea typeface="Montserrat Bold" pitchFamily="34" charset="-122"/>
                <a:cs typeface="Montserrat Bold" pitchFamily="34" charset="-120"/>
              </a:rPr>
              <a:t>Firebase Integration</a:t>
            </a:r>
            <a:endParaRPr lang="en-US" sz="1650" dirty="0"/>
          </a:p>
        </p:txBody>
      </p:sp>
      <p:sp>
        <p:nvSpPr>
          <p:cNvPr id="21" name="Text 18"/>
          <p:cNvSpPr/>
          <p:nvPr/>
        </p:nvSpPr>
        <p:spPr>
          <a:xfrm>
            <a:off x="6319718" y="6006346"/>
            <a:ext cx="7477363" cy="555784"/>
          </a:xfrm>
          <a:prstGeom prst="rect">
            <a:avLst/>
          </a:prstGeom>
          <a:noFill/>
          <a:ln/>
        </p:spPr>
        <p:txBody>
          <a:bodyPr wrap="square" lIns="0" tIns="0" rIns="0" bIns="0" rtlCol="0" anchor="t"/>
          <a:lstStyle/>
          <a:p>
            <a:pPr marL="0" indent="0" algn="l">
              <a:lnSpc>
                <a:spcPts val="2150"/>
              </a:lnSpc>
              <a:buNone/>
            </a:pPr>
            <a:r>
              <a:rPr lang="en-US" sz="1450" dirty="0">
                <a:solidFill>
                  <a:srgbClr val="E2E6E9"/>
                </a:solidFill>
                <a:latin typeface="Source Sans 3" pitchFamily="34" charset="0"/>
                <a:ea typeface="Source Sans 3" pitchFamily="34" charset="-122"/>
                <a:cs typeface="Source Sans 3" pitchFamily="34" charset="-120"/>
              </a:rPr>
              <a:t>Reliable logging of "Door Unlock" events with timestamps, fulfilling critical security requirements.</a:t>
            </a:r>
            <a:endParaRPr lang="en-US" sz="1450" dirty="0"/>
          </a:p>
        </p:txBody>
      </p:sp>
      <p:sp>
        <p:nvSpPr>
          <p:cNvPr id="22" name="Text 19"/>
          <p:cNvSpPr/>
          <p:nvPr/>
        </p:nvSpPr>
        <p:spPr>
          <a:xfrm>
            <a:off x="6134576" y="6955631"/>
            <a:ext cx="7847648" cy="555784"/>
          </a:xfrm>
          <a:prstGeom prst="rect">
            <a:avLst/>
          </a:prstGeom>
          <a:noFill/>
          <a:ln/>
        </p:spPr>
        <p:txBody>
          <a:bodyPr wrap="square" lIns="0" tIns="0" rIns="0" bIns="0" rtlCol="0" anchor="t"/>
          <a:lstStyle/>
          <a:p>
            <a:pPr marL="0" indent="0" algn="l">
              <a:lnSpc>
                <a:spcPts val="2150"/>
              </a:lnSpc>
              <a:buNone/>
            </a:pPr>
            <a:r>
              <a:rPr lang="en-US" sz="1450" dirty="0">
                <a:solidFill>
                  <a:srgbClr val="E2E6E9"/>
                </a:solidFill>
                <a:latin typeface="Source Sans 3" pitchFamily="34" charset="0"/>
                <a:ea typeface="Source Sans 3" pitchFamily="34" charset="-122"/>
                <a:cs typeface="Source Sans 3" pitchFamily="34" charset="-120"/>
              </a:rPr>
              <a:t>VisualSense demonstrates the power of combining standard embedded hardware with modern computer vision, creating a robust, touchless console.</a:t>
            </a:r>
            <a:endParaRPr lang="en-US" sz="1450" dirty="0"/>
          </a:p>
        </p:txBody>
      </p:sp>
      <p:sp>
        <p:nvSpPr>
          <p:cNvPr id="23" name="Rectangle 22">
            <a:extLst>
              <a:ext uri="{FF2B5EF4-FFF2-40B4-BE49-F238E27FC236}">
                <a16:creationId xmlns:a16="http://schemas.microsoft.com/office/drawing/2014/main" id="{A36A9D4B-2CD0-DD6F-5F34-5C3DB064A2F8}"/>
              </a:ext>
            </a:extLst>
          </p:cNvPr>
          <p:cNvSpPr/>
          <p:nvPr/>
        </p:nvSpPr>
        <p:spPr>
          <a:xfrm>
            <a:off x="12861364" y="7739529"/>
            <a:ext cx="1637553" cy="406400"/>
          </a:xfrm>
          <a:prstGeom prst="rect">
            <a:avLst/>
          </a:prstGeom>
          <a:solidFill>
            <a:srgbClr val="1112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pic>
        <p:nvPicPr>
          <p:cNvPr id="2" name="Image 0" descr="preencoded.png"/>
          <p:cNvPicPr>
            <a:picLocks noChangeAspect="1"/>
          </p:cNvPicPr>
          <p:nvPr/>
        </p:nvPicPr>
        <p:blipFill>
          <a:blip r:embed="rId3"/>
          <a:stretch>
            <a:fillRect/>
          </a:stretch>
        </p:blipFill>
        <p:spPr>
          <a:xfrm>
            <a:off x="0" y="0"/>
            <a:ext cx="5486400" cy="8230195"/>
          </a:xfrm>
          <a:prstGeom prst="rect">
            <a:avLst/>
          </a:prstGeom>
        </p:spPr>
      </p:pic>
      <p:sp>
        <p:nvSpPr>
          <p:cNvPr id="3" name="Shape 0"/>
          <p:cNvSpPr/>
          <p:nvPr/>
        </p:nvSpPr>
        <p:spPr>
          <a:xfrm>
            <a:off x="6209586" y="568285"/>
            <a:ext cx="1014293" cy="371832"/>
          </a:xfrm>
          <a:prstGeom prst="roundRect">
            <a:avLst>
              <a:gd name="adj" fmla="val 6669"/>
            </a:avLst>
          </a:prstGeom>
          <a:solidFill>
            <a:srgbClr val="262626"/>
          </a:solidFill>
          <a:ln/>
        </p:spPr>
      </p:sp>
      <p:sp>
        <p:nvSpPr>
          <p:cNvPr id="4" name="Text 1"/>
          <p:cNvSpPr/>
          <p:nvPr/>
        </p:nvSpPr>
        <p:spPr>
          <a:xfrm>
            <a:off x="6333530" y="630198"/>
            <a:ext cx="766405" cy="248007"/>
          </a:xfrm>
          <a:prstGeom prst="rect">
            <a:avLst/>
          </a:prstGeom>
          <a:noFill/>
          <a:ln/>
        </p:spPr>
        <p:txBody>
          <a:bodyPr wrap="none" lIns="0" tIns="0" rIns="0" bIns="0" rtlCol="0" anchor="t"/>
          <a:lstStyle/>
          <a:p>
            <a:pPr marL="0" indent="0" algn="l">
              <a:lnSpc>
                <a:spcPts val="1950"/>
              </a:lnSpc>
              <a:buNone/>
            </a:pPr>
            <a:r>
              <a:rPr lang="en-US" sz="1300" dirty="0">
                <a:solidFill>
                  <a:srgbClr val="E2E6E9"/>
                </a:solidFill>
                <a:latin typeface="Source Sans 3" pitchFamily="34" charset="0"/>
                <a:ea typeface="Source Sans 3" pitchFamily="34" charset="-122"/>
                <a:cs typeface="Source Sans 3" pitchFamily="34" charset="-120"/>
              </a:rPr>
              <a:t>CHAPTER 9</a:t>
            </a:r>
            <a:endParaRPr lang="en-US" sz="1300" dirty="0"/>
          </a:p>
        </p:txBody>
      </p:sp>
      <p:sp>
        <p:nvSpPr>
          <p:cNvPr id="5" name="Text 2"/>
          <p:cNvSpPr/>
          <p:nvPr/>
        </p:nvSpPr>
        <p:spPr>
          <a:xfrm>
            <a:off x="6209586" y="1022747"/>
            <a:ext cx="7697629" cy="939403"/>
          </a:xfrm>
          <a:prstGeom prst="rect">
            <a:avLst/>
          </a:prstGeom>
          <a:noFill/>
          <a:ln/>
        </p:spPr>
        <p:txBody>
          <a:bodyPr wrap="square" lIns="0" tIns="0" rIns="0" bIns="0" rtlCol="0" anchor="t"/>
          <a:lstStyle/>
          <a:p>
            <a:pPr marL="0" indent="0" algn="l">
              <a:lnSpc>
                <a:spcPts val="3650"/>
              </a:lnSpc>
              <a:buNone/>
            </a:pPr>
            <a:r>
              <a:rPr lang="en-US" sz="2950" b="1" dirty="0">
                <a:solidFill>
                  <a:srgbClr val="FFFFFF"/>
                </a:solidFill>
                <a:latin typeface="Montserrat Bold" pitchFamily="34" charset="0"/>
                <a:ea typeface="Montserrat Bold" pitchFamily="34" charset="-122"/>
                <a:cs typeface="Montserrat Bold" pitchFamily="34" charset="-120"/>
              </a:rPr>
              <a:t>Future Horizons: Expanding VisualSense</a:t>
            </a:r>
            <a:endParaRPr lang="en-US" sz="2950" dirty="0"/>
          </a:p>
        </p:txBody>
      </p:sp>
      <p:pic>
        <p:nvPicPr>
          <p:cNvPr id="6" name="Image 1"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7095" y="2278320"/>
            <a:ext cx="309920" cy="309920"/>
          </a:xfrm>
          <a:prstGeom prst="rect">
            <a:avLst/>
          </a:prstGeom>
        </p:spPr>
      </p:pic>
      <p:sp>
        <p:nvSpPr>
          <p:cNvPr id="7" name="Text 3"/>
          <p:cNvSpPr/>
          <p:nvPr/>
        </p:nvSpPr>
        <p:spPr>
          <a:xfrm>
            <a:off x="6881098" y="2272070"/>
            <a:ext cx="2437328" cy="293489"/>
          </a:xfrm>
          <a:prstGeom prst="rect">
            <a:avLst/>
          </a:prstGeom>
          <a:noFill/>
          <a:ln/>
        </p:spPr>
        <p:txBody>
          <a:bodyPr wrap="none" lIns="0" tIns="0" rIns="0" bIns="0" rtlCol="0" anchor="t"/>
          <a:lstStyle/>
          <a:p>
            <a:pPr marL="0" indent="0" algn="l">
              <a:lnSpc>
                <a:spcPts val="2300"/>
              </a:lnSpc>
              <a:buNone/>
            </a:pPr>
            <a:r>
              <a:rPr lang="en-US" sz="1800" b="1" dirty="0">
                <a:solidFill>
                  <a:srgbClr val="E2E6E9"/>
                </a:solidFill>
                <a:latin typeface="Montserrat Bold" pitchFamily="34" charset="0"/>
                <a:ea typeface="Montserrat Bold" pitchFamily="34" charset="-122"/>
                <a:cs typeface="Montserrat Bold" pitchFamily="34" charset="-120"/>
              </a:rPr>
              <a:t>On-Chip Processing</a:t>
            </a:r>
            <a:endParaRPr lang="en-US" sz="1800" dirty="0"/>
          </a:p>
        </p:txBody>
      </p:sp>
      <p:sp>
        <p:nvSpPr>
          <p:cNvPr id="8" name="Text 4"/>
          <p:cNvSpPr/>
          <p:nvPr/>
        </p:nvSpPr>
        <p:spPr>
          <a:xfrm>
            <a:off x="6881098" y="2689503"/>
            <a:ext cx="7026116" cy="620078"/>
          </a:xfrm>
          <a:prstGeom prst="rect">
            <a:avLst/>
          </a:prstGeom>
          <a:noFill/>
          <a:ln/>
        </p:spPr>
        <p:txBody>
          <a:bodyPr wrap="square" lIns="0" tIns="0" rIns="0" bIns="0" rtlCol="0" anchor="t"/>
          <a:lstStyle/>
          <a:p>
            <a:pPr marL="0" indent="0" algn="l">
              <a:lnSpc>
                <a:spcPts val="2400"/>
              </a:lnSpc>
              <a:buNone/>
            </a:pPr>
            <a:r>
              <a:rPr lang="en-US" sz="1600" dirty="0">
                <a:solidFill>
                  <a:srgbClr val="E2E6E9"/>
                </a:solidFill>
                <a:latin typeface="Source Sans 3" pitchFamily="34" charset="0"/>
                <a:ea typeface="Source Sans 3" pitchFamily="34" charset="-122"/>
                <a:cs typeface="Source Sans 3" pitchFamily="34" charset="-120"/>
              </a:rPr>
              <a:t>Explore porting hand detection to ESP32-S3/Raspberry Pi with AI acceleration, reducing reliance on a PC backend.</a:t>
            </a:r>
            <a:endParaRPr lang="en-US" sz="1600" dirty="0"/>
          </a:p>
        </p:txBody>
      </p:sp>
      <p:pic>
        <p:nvPicPr>
          <p:cNvPr id="9" name="Image 2"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7095" y="3729097"/>
            <a:ext cx="309920" cy="309920"/>
          </a:xfrm>
          <a:prstGeom prst="rect">
            <a:avLst/>
          </a:prstGeom>
        </p:spPr>
      </p:pic>
      <p:sp>
        <p:nvSpPr>
          <p:cNvPr id="10" name="Text 5"/>
          <p:cNvSpPr/>
          <p:nvPr/>
        </p:nvSpPr>
        <p:spPr>
          <a:xfrm>
            <a:off x="6881098" y="3722846"/>
            <a:ext cx="2348270" cy="293489"/>
          </a:xfrm>
          <a:prstGeom prst="rect">
            <a:avLst/>
          </a:prstGeom>
          <a:noFill/>
          <a:ln/>
        </p:spPr>
        <p:txBody>
          <a:bodyPr wrap="none" lIns="0" tIns="0" rIns="0" bIns="0" rtlCol="0" anchor="t"/>
          <a:lstStyle/>
          <a:p>
            <a:pPr marL="0" indent="0" algn="l">
              <a:lnSpc>
                <a:spcPts val="2300"/>
              </a:lnSpc>
              <a:buNone/>
            </a:pPr>
            <a:r>
              <a:rPr lang="en-US" sz="1800" b="1" dirty="0">
                <a:solidFill>
                  <a:srgbClr val="E2E6E9"/>
                </a:solidFill>
                <a:latin typeface="Montserrat Bold" pitchFamily="34" charset="0"/>
                <a:ea typeface="Montserrat Bold" pitchFamily="34" charset="-122"/>
                <a:cs typeface="Montserrat Bold" pitchFamily="34" charset="-120"/>
              </a:rPr>
              <a:t>Voice Integration</a:t>
            </a:r>
            <a:endParaRPr lang="en-US" sz="1800" dirty="0"/>
          </a:p>
        </p:txBody>
      </p:sp>
      <p:sp>
        <p:nvSpPr>
          <p:cNvPr id="11" name="Text 6"/>
          <p:cNvSpPr/>
          <p:nvPr/>
        </p:nvSpPr>
        <p:spPr>
          <a:xfrm>
            <a:off x="6881098" y="4140279"/>
            <a:ext cx="7026116" cy="620078"/>
          </a:xfrm>
          <a:prstGeom prst="rect">
            <a:avLst/>
          </a:prstGeom>
          <a:noFill/>
          <a:ln/>
        </p:spPr>
        <p:txBody>
          <a:bodyPr wrap="square" lIns="0" tIns="0" rIns="0" bIns="0" rtlCol="0" anchor="t"/>
          <a:lstStyle/>
          <a:p>
            <a:pPr marL="0" indent="0" algn="l">
              <a:lnSpc>
                <a:spcPts val="2400"/>
              </a:lnSpc>
              <a:buNone/>
            </a:pPr>
            <a:r>
              <a:rPr lang="en-US" sz="1600" dirty="0">
                <a:solidFill>
                  <a:srgbClr val="E2E6E9"/>
                </a:solidFill>
                <a:latin typeface="Source Sans 3" pitchFamily="34" charset="0"/>
                <a:ea typeface="Source Sans 3" pitchFamily="34" charset="-122"/>
                <a:cs typeface="Source Sans 3" pitchFamily="34" charset="-120"/>
              </a:rPr>
              <a:t>Adding voice commands to seamlessly switch modes or control games alongside existing gestures.</a:t>
            </a:r>
            <a:endParaRPr lang="en-US" sz="1600" dirty="0"/>
          </a:p>
        </p:txBody>
      </p:sp>
      <p:pic>
        <p:nvPicPr>
          <p:cNvPr id="12" name="Image 3"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7095" y="5179874"/>
            <a:ext cx="309920" cy="309920"/>
          </a:xfrm>
          <a:prstGeom prst="rect">
            <a:avLst/>
          </a:prstGeom>
        </p:spPr>
      </p:pic>
      <p:sp>
        <p:nvSpPr>
          <p:cNvPr id="13" name="Text 7"/>
          <p:cNvSpPr/>
          <p:nvPr/>
        </p:nvSpPr>
        <p:spPr>
          <a:xfrm>
            <a:off x="6881098" y="5173623"/>
            <a:ext cx="2348270" cy="293489"/>
          </a:xfrm>
          <a:prstGeom prst="rect">
            <a:avLst/>
          </a:prstGeom>
          <a:noFill/>
          <a:ln/>
        </p:spPr>
        <p:txBody>
          <a:bodyPr wrap="none" lIns="0" tIns="0" rIns="0" bIns="0" rtlCol="0" anchor="t"/>
          <a:lstStyle/>
          <a:p>
            <a:pPr marL="0" indent="0" algn="l">
              <a:lnSpc>
                <a:spcPts val="2300"/>
              </a:lnSpc>
              <a:buNone/>
            </a:pPr>
            <a:r>
              <a:rPr lang="en-US" sz="1800" b="1" dirty="0">
                <a:solidFill>
                  <a:srgbClr val="E2E6E9"/>
                </a:solidFill>
                <a:latin typeface="Montserrat Bold" pitchFamily="34" charset="0"/>
                <a:ea typeface="Montserrat Bold" pitchFamily="34" charset="-122"/>
                <a:cs typeface="Montserrat Bold" pitchFamily="34" charset="-120"/>
              </a:rPr>
              <a:t>3D Navigation</a:t>
            </a:r>
            <a:endParaRPr lang="en-US" sz="1800" dirty="0"/>
          </a:p>
        </p:txBody>
      </p:sp>
      <p:sp>
        <p:nvSpPr>
          <p:cNvPr id="14" name="Text 8"/>
          <p:cNvSpPr/>
          <p:nvPr/>
        </p:nvSpPr>
        <p:spPr>
          <a:xfrm>
            <a:off x="6881098" y="5591056"/>
            <a:ext cx="7026116" cy="620078"/>
          </a:xfrm>
          <a:prstGeom prst="rect">
            <a:avLst/>
          </a:prstGeom>
          <a:noFill/>
          <a:ln/>
        </p:spPr>
        <p:txBody>
          <a:bodyPr wrap="square" lIns="0" tIns="0" rIns="0" bIns="0" rtlCol="0" anchor="t"/>
          <a:lstStyle/>
          <a:p>
            <a:pPr marL="0" indent="0" algn="l">
              <a:lnSpc>
                <a:spcPts val="2400"/>
              </a:lnSpc>
              <a:buNone/>
            </a:pPr>
            <a:r>
              <a:rPr lang="en-US" sz="1600" dirty="0">
                <a:solidFill>
                  <a:srgbClr val="E2E6E9"/>
                </a:solidFill>
                <a:latin typeface="Source Sans 3" pitchFamily="34" charset="0"/>
                <a:ea typeface="Source Sans 3" pitchFamily="34" charset="-122"/>
                <a:cs typeface="Source Sans 3" pitchFamily="34" charset="-120"/>
              </a:rPr>
              <a:t>Enhancing gesture logic to support depth-based movements (Z-axis) for richer, more complex interactions.</a:t>
            </a:r>
            <a:endParaRPr lang="en-US" sz="1600" dirty="0"/>
          </a:p>
        </p:txBody>
      </p:sp>
      <p:pic>
        <p:nvPicPr>
          <p:cNvPr id="15" name="Image 4" descr="preencoded.png"/>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6287095" y="6630650"/>
            <a:ext cx="309920" cy="309920"/>
          </a:xfrm>
          <a:prstGeom prst="rect">
            <a:avLst/>
          </a:prstGeom>
        </p:spPr>
      </p:pic>
      <p:sp>
        <p:nvSpPr>
          <p:cNvPr id="16" name="Text 9"/>
          <p:cNvSpPr/>
          <p:nvPr/>
        </p:nvSpPr>
        <p:spPr>
          <a:xfrm>
            <a:off x="6881098" y="6624399"/>
            <a:ext cx="2440900" cy="293489"/>
          </a:xfrm>
          <a:prstGeom prst="rect">
            <a:avLst/>
          </a:prstGeom>
          <a:noFill/>
          <a:ln/>
        </p:spPr>
        <p:txBody>
          <a:bodyPr wrap="none" lIns="0" tIns="0" rIns="0" bIns="0" rtlCol="0" anchor="t"/>
          <a:lstStyle/>
          <a:p>
            <a:pPr marL="0" indent="0" algn="l">
              <a:lnSpc>
                <a:spcPts val="2300"/>
              </a:lnSpc>
              <a:buNone/>
            </a:pPr>
            <a:r>
              <a:rPr lang="en-US" sz="1800" b="1" dirty="0">
                <a:solidFill>
                  <a:srgbClr val="E2E6E9"/>
                </a:solidFill>
                <a:latin typeface="Montserrat Bold" pitchFamily="34" charset="0"/>
                <a:ea typeface="Montserrat Bold" pitchFamily="34" charset="-122"/>
                <a:cs typeface="Montserrat Bold" pitchFamily="34" charset="-120"/>
              </a:rPr>
              <a:t>Multi-Hand Support</a:t>
            </a:r>
            <a:endParaRPr lang="en-US" sz="1800" dirty="0"/>
          </a:p>
        </p:txBody>
      </p:sp>
      <p:sp>
        <p:nvSpPr>
          <p:cNvPr id="17" name="Text 10"/>
          <p:cNvSpPr/>
          <p:nvPr/>
        </p:nvSpPr>
        <p:spPr>
          <a:xfrm>
            <a:off x="6881098" y="7041833"/>
            <a:ext cx="7026116" cy="620078"/>
          </a:xfrm>
          <a:prstGeom prst="rect">
            <a:avLst/>
          </a:prstGeom>
          <a:noFill/>
          <a:ln/>
        </p:spPr>
        <p:txBody>
          <a:bodyPr wrap="square" lIns="0" tIns="0" rIns="0" bIns="0" rtlCol="0" anchor="t"/>
          <a:lstStyle/>
          <a:p>
            <a:pPr marL="0" indent="0" algn="l">
              <a:lnSpc>
                <a:spcPts val="2400"/>
              </a:lnSpc>
              <a:buNone/>
            </a:pPr>
            <a:r>
              <a:rPr lang="en-US" sz="1600" dirty="0">
                <a:solidFill>
                  <a:srgbClr val="E2E6E9"/>
                </a:solidFill>
                <a:latin typeface="Source Sans 3" pitchFamily="34" charset="0"/>
                <a:ea typeface="Source Sans 3" pitchFamily="34" charset="-122"/>
                <a:cs typeface="Source Sans 3" pitchFamily="34" charset="-120"/>
              </a:rPr>
              <a:t>Developing logic for simultaneous detection of both hands, opening doors for two-player games and advanced control.</a:t>
            </a:r>
            <a:endParaRPr lang="en-US" sz="1600" dirty="0"/>
          </a:p>
        </p:txBody>
      </p:sp>
      <p:sp>
        <p:nvSpPr>
          <p:cNvPr id="18" name="Rectangle 17">
            <a:extLst>
              <a:ext uri="{FF2B5EF4-FFF2-40B4-BE49-F238E27FC236}">
                <a16:creationId xmlns:a16="http://schemas.microsoft.com/office/drawing/2014/main" id="{1B049358-6D3F-683E-919F-A61E4EFDB6CE}"/>
              </a:ext>
            </a:extLst>
          </p:cNvPr>
          <p:cNvSpPr/>
          <p:nvPr/>
        </p:nvSpPr>
        <p:spPr>
          <a:xfrm>
            <a:off x="12861364" y="7739529"/>
            <a:ext cx="1637553" cy="406400"/>
          </a:xfrm>
          <a:prstGeom prst="rect">
            <a:avLst/>
          </a:prstGeom>
          <a:solidFill>
            <a:srgbClr val="111213"/>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TotalTime>
  <Words>838</Words>
  <Application>Microsoft Office PowerPoint</Application>
  <PresentationFormat>Custom</PresentationFormat>
  <Paragraphs>104</Paragraphs>
  <Slides>10</Slides>
  <Notes>10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10</vt:i4>
      </vt:variant>
    </vt:vector>
  </HeadingPairs>
  <TitlesOfParts>
    <vt:vector size="15" baseType="lpstr">
      <vt:lpstr>Montserrat Bold</vt:lpstr>
      <vt:lpstr>Arial</vt:lpstr>
      <vt:lpstr>Montserrat Light</vt:lpstr>
      <vt:lpstr>Source Sans 3</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Muqaddam Ali</dc:creator>
  <cp:lastModifiedBy>Muqaddam Ali</cp:lastModifiedBy>
  <cp:revision>2</cp:revision>
  <dcterms:created xsi:type="dcterms:W3CDTF">2026-01-05T06:22:55Z</dcterms:created>
  <dcterms:modified xsi:type="dcterms:W3CDTF">2026-01-05T06:38:04Z</dcterms:modified>
</cp:coreProperties>
</file>